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06" r:id="rId1"/>
  </p:sldMasterIdLst>
  <p:sldIdLst>
    <p:sldId id="256" r:id="rId2"/>
    <p:sldId id="257" r:id="rId3"/>
    <p:sldId id="268" r:id="rId4"/>
    <p:sldId id="274" r:id="rId5"/>
    <p:sldId id="258" r:id="rId6"/>
    <p:sldId id="259" r:id="rId7"/>
    <p:sldId id="260" r:id="rId8"/>
    <p:sldId id="267" r:id="rId9"/>
    <p:sldId id="277" r:id="rId10"/>
    <p:sldId id="278" r:id="rId11"/>
    <p:sldId id="262" r:id="rId12"/>
    <p:sldId id="273" r:id="rId13"/>
    <p:sldId id="279" r:id="rId14"/>
    <p:sldId id="280" r:id="rId15"/>
    <p:sldId id="275" r:id="rId16"/>
    <p:sldId id="283" r:id="rId17"/>
    <p:sldId id="284" r:id="rId18"/>
    <p:sldId id="285" r:id="rId19"/>
    <p:sldId id="286" r:id="rId20"/>
    <p:sldId id="287" r:id="rId21"/>
    <p:sldId id="281" r:id="rId22"/>
    <p:sldId id="282" r:id="rId23"/>
    <p:sldId id="263" r:id="rId24"/>
    <p:sldId id="264" r:id="rId25"/>
    <p:sldId id="276" r:id="rId26"/>
    <p:sldId id="265"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5507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p:scale>
          <a:sx n="92" d="100"/>
          <a:sy n="92" d="100"/>
        </p:scale>
        <p:origin x="21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6/4/2023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591888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C9E5C1A-2B5C-43F0-8731-61AB17ACB250}" type="datetimeFigureOut">
              <a:rPr lang="en-IN" smtClean="0"/>
              <a:t>04-06-2023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FF60F87-2877-4078-8EB3-3D18643E3AE3}" type="slidenum">
              <a:rPr lang="en-IN" smtClean="0"/>
              <a:t>‹#›</a:t>
            </a:fld>
            <a:endParaRPr lang="en-IN"/>
          </a:p>
        </p:txBody>
      </p:sp>
    </p:spTree>
    <p:extLst>
      <p:ext uri="{BB962C8B-B14F-4D97-AF65-F5344CB8AC3E}">
        <p14:creationId xmlns:p14="http://schemas.microsoft.com/office/powerpoint/2010/main" val="17855008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6/4/2023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622851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C9E5C1A-2B5C-43F0-8731-61AB17ACB250}" type="datetimeFigureOut">
              <a:rPr lang="en-IN" smtClean="0"/>
              <a:t>04-06-2023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FF60F87-2877-4078-8EB3-3D18643E3AE3}" type="slidenum">
              <a:rPr lang="en-IN" smtClean="0"/>
              <a:t>‹#›</a:t>
            </a:fld>
            <a:endParaRPr lang="en-IN"/>
          </a:p>
        </p:txBody>
      </p:sp>
    </p:spTree>
    <p:extLst>
      <p:ext uri="{BB962C8B-B14F-4D97-AF65-F5344CB8AC3E}">
        <p14:creationId xmlns:p14="http://schemas.microsoft.com/office/powerpoint/2010/main" val="8201777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C9E5C1A-2B5C-43F0-8731-61AB17ACB250}" type="datetimeFigureOut">
              <a:rPr lang="en-IN" smtClean="0"/>
              <a:t>04-06-2023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FF60F87-2877-4078-8EB3-3D18643E3AE3}" type="slidenum">
              <a:rPr lang="en-IN" smtClean="0"/>
              <a:t>‹#›</a:t>
            </a:fld>
            <a:endParaRPr lang="en-IN"/>
          </a:p>
        </p:txBody>
      </p:sp>
    </p:spTree>
    <p:extLst>
      <p:ext uri="{BB962C8B-B14F-4D97-AF65-F5344CB8AC3E}">
        <p14:creationId xmlns:p14="http://schemas.microsoft.com/office/powerpoint/2010/main" val="11567215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C9E5C1A-2B5C-43F0-8731-61AB17ACB250}" type="datetimeFigureOut">
              <a:rPr lang="en-IN" smtClean="0"/>
              <a:t>04-06-2023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FF60F87-2877-4078-8EB3-3D18643E3AE3}" type="slidenum">
              <a:rPr lang="en-IN" smtClean="0"/>
              <a:t>‹#›</a:t>
            </a:fld>
            <a:endParaRPr lang="en-IN"/>
          </a:p>
        </p:txBody>
      </p:sp>
    </p:spTree>
    <p:extLst>
      <p:ext uri="{BB962C8B-B14F-4D97-AF65-F5344CB8AC3E}">
        <p14:creationId xmlns:p14="http://schemas.microsoft.com/office/powerpoint/2010/main" val="13785035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DC9E5C1A-2B5C-43F0-8731-61AB17ACB250}" type="datetimeFigureOut">
              <a:rPr lang="en-IN" smtClean="0"/>
              <a:t>04-06-2023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FF60F87-2877-4078-8EB3-3D18643E3AE3}" type="slidenum">
              <a:rPr lang="en-IN" smtClean="0"/>
              <a:t>‹#›</a:t>
            </a:fld>
            <a:endParaRPr lang="en-IN"/>
          </a:p>
        </p:txBody>
      </p:sp>
    </p:spTree>
    <p:extLst>
      <p:ext uri="{BB962C8B-B14F-4D97-AF65-F5344CB8AC3E}">
        <p14:creationId xmlns:p14="http://schemas.microsoft.com/office/powerpoint/2010/main" val="4041637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C9E5C1A-2B5C-43F0-8731-61AB17ACB250}" type="datetimeFigureOut">
              <a:rPr lang="en-IN" smtClean="0"/>
              <a:t>04-06-2023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FF60F87-2877-4078-8EB3-3D18643E3AE3}" type="slidenum">
              <a:rPr lang="en-IN" smtClean="0"/>
              <a:t>‹#›</a:t>
            </a:fld>
            <a:endParaRPr lang="en-IN"/>
          </a:p>
        </p:txBody>
      </p:sp>
    </p:spTree>
    <p:extLst>
      <p:ext uri="{BB962C8B-B14F-4D97-AF65-F5344CB8AC3E}">
        <p14:creationId xmlns:p14="http://schemas.microsoft.com/office/powerpoint/2010/main" val="16374425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6/4/2023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110492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C9E5C1A-2B5C-43F0-8731-61AB17ACB250}" type="datetimeFigureOut">
              <a:rPr lang="en-IN" smtClean="0"/>
              <a:t>04-06-2023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FF60F87-2877-4078-8EB3-3D18643E3AE3}" type="slidenum">
              <a:rPr lang="en-IN" smtClean="0"/>
              <a:t>‹#›</a:t>
            </a:fld>
            <a:endParaRPr lang="en-IN"/>
          </a:p>
        </p:txBody>
      </p:sp>
    </p:spTree>
    <p:extLst>
      <p:ext uri="{BB962C8B-B14F-4D97-AF65-F5344CB8AC3E}">
        <p14:creationId xmlns:p14="http://schemas.microsoft.com/office/powerpoint/2010/main" val="38373456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C9E5C1A-2B5C-43F0-8731-61AB17ACB250}" type="datetimeFigureOut">
              <a:rPr lang="en-IN" smtClean="0"/>
              <a:t>04-06-2023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FF60F87-2877-4078-8EB3-3D18643E3AE3}" type="slidenum">
              <a:rPr lang="en-IN" smtClean="0"/>
              <a:t>‹#›</a:t>
            </a:fld>
            <a:endParaRPr lang="en-IN"/>
          </a:p>
        </p:txBody>
      </p:sp>
    </p:spTree>
    <p:extLst>
      <p:ext uri="{BB962C8B-B14F-4D97-AF65-F5344CB8AC3E}">
        <p14:creationId xmlns:p14="http://schemas.microsoft.com/office/powerpoint/2010/main" val="3762321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C9E5C1A-2B5C-43F0-8731-61AB17ACB250}" type="datetimeFigureOut">
              <a:rPr lang="en-IN" smtClean="0"/>
              <a:t>04-06-2023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FF60F87-2877-4078-8EB3-3D18643E3AE3}" type="slidenum">
              <a:rPr lang="en-IN" smtClean="0"/>
              <a:t>‹#›</a:t>
            </a:fld>
            <a:endParaRPr lang="en-IN"/>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2601702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C9E5C1A-2B5C-43F0-8731-61AB17ACB250}" type="datetimeFigureOut">
              <a:rPr lang="en-IN" smtClean="0"/>
              <a:t>04-06-2023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FF60F87-2877-4078-8EB3-3D18643E3AE3}" type="slidenum">
              <a:rPr lang="en-IN" smtClean="0"/>
              <a:t>‹#›</a:t>
            </a:fld>
            <a:endParaRPr lang="en-IN"/>
          </a:p>
        </p:txBody>
      </p:sp>
    </p:spTree>
    <p:extLst>
      <p:ext uri="{BB962C8B-B14F-4D97-AF65-F5344CB8AC3E}">
        <p14:creationId xmlns:p14="http://schemas.microsoft.com/office/powerpoint/2010/main" val="22081689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C9E5C1A-2B5C-43F0-8731-61AB17ACB250}" type="datetimeFigureOut">
              <a:rPr lang="en-IN" smtClean="0"/>
              <a:t>04-06-2023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FF60F87-2877-4078-8EB3-3D18643E3AE3}" type="slidenum">
              <a:rPr lang="en-IN" smtClean="0"/>
              <a:t>‹#›</a:t>
            </a:fld>
            <a:endParaRPr lang="en-IN"/>
          </a:p>
        </p:txBody>
      </p:sp>
    </p:spTree>
    <p:extLst>
      <p:ext uri="{BB962C8B-B14F-4D97-AF65-F5344CB8AC3E}">
        <p14:creationId xmlns:p14="http://schemas.microsoft.com/office/powerpoint/2010/main" val="12613244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C9E5C1A-2B5C-43F0-8731-61AB17ACB250}" type="datetimeFigureOut">
              <a:rPr lang="en-IN" smtClean="0"/>
              <a:t>04-06-2023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FF60F87-2877-4078-8EB3-3D18643E3AE3}" type="slidenum">
              <a:rPr lang="en-IN" smtClean="0"/>
              <a:t>‹#›</a:t>
            </a:fld>
            <a:endParaRPr lang="en-IN"/>
          </a:p>
        </p:txBody>
      </p:sp>
    </p:spTree>
    <p:extLst>
      <p:ext uri="{BB962C8B-B14F-4D97-AF65-F5344CB8AC3E}">
        <p14:creationId xmlns:p14="http://schemas.microsoft.com/office/powerpoint/2010/main" val="33128201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C9E5C1A-2B5C-43F0-8731-61AB17ACB250}" type="datetimeFigureOut">
              <a:rPr lang="en-IN" smtClean="0"/>
              <a:t>04-06-2023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FF60F87-2877-4078-8EB3-3D18643E3AE3}" type="slidenum">
              <a:rPr lang="en-IN" smtClean="0"/>
              <a:t>‹#›</a:t>
            </a:fld>
            <a:endParaRPr lang="en-IN"/>
          </a:p>
        </p:txBody>
      </p:sp>
    </p:spTree>
    <p:extLst>
      <p:ext uri="{BB962C8B-B14F-4D97-AF65-F5344CB8AC3E}">
        <p14:creationId xmlns:p14="http://schemas.microsoft.com/office/powerpoint/2010/main" val="14026124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C9E5C1A-2B5C-43F0-8731-61AB17ACB250}" type="datetimeFigureOut">
              <a:rPr lang="en-IN" smtClean="0"/>
              <a:t>04-06-2023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FF60F87-2877-4078-8EB3-3D18643E3AE3}" type="slidenum">
              <a:rPr lang="en-IN" smtClean="0"/>
              <a:t>‹#›</a:t>
            </a:fld>
            <a:endParaRPr lang="en-IN"/>
          </a:p>
        </p:txBody>
      </p:sp>
    </p:spTree>
    <p:extLst>
      <p:ext uri="{BB962C8B-B14F-4D97-AF65-F5344CB8AC3E}">
        <p14:creationId xmlns:p14="http://schemas.microsoft.com/office/powerpoint/2010/main" val="24167580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66800" y="457518"/>
            <a:ext cx="10058400" cy="1188720"/>
          </a:xfrm>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C9E5C1A-2B5C-43F0-8731-61AB17ACB250}" type="datetimeFigureOut">
              <a:rPr lang="en-IN" smtClean="0"/>
              <a:t>04-06-2023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FF60F87-2877-4078-8EB3-3D18643E3AE3}" type="slidenum">
              <a:rPr lang="en-IN" smtClean="0"/>
              <a:t>‹#›</a:t>
            </a:fld>
            <a:endParaRPr lang="en-IN"/>
          </a:p>
        </p:txBody>
      </p:sp>
    </p:spTree>
    <p:extLst>
      <p:ext uri="{BB962C8B-B14F-4D97-AF65-F5344CB8AC3E}">
        <p14:creationId xmlns:p14="http://schemas.microsoft.com/office/powerpoint/2010/main" val="38388317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DC9E5C1A-2B5C-43F0-8731-61AB17ACB250}" type="datetimeFigureOut">
              <a:rPr lang="en-IN" smtClean="0"/>
              <a:t>04-06-2023</a:t>
            </a:fld>
            <a:endParaRPr lang="en-IN"/>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IN"/>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0FF60F87-2877-4078-8EB3-3D18643E3AE3}" type="slidenum">
              <a:rPr lang="en-IN" smtClean="0"/>
              <a:t>‹#›</a:t>
            </a:fld>
            <a:endParaRPr lang="en-IN"/>
          </a:p>
        </p:txBody>
      </p:sp>
    </p:spTree>
    <p:extLst>
      <p:ext uri="{BB962C8B-B14F-4D97-AF65-F5344CB8AC3E}">
        <p14:creationId xmlns:p14="http://schemas.microsoft.com/office/powerpoint/2010/main" val="1398883788"/>
      </p:ext>
    </p:extLst>
  </p:cSld>
  <p:clrMap bg1="lt1" tx1="dk1" bg2="lt2" tx2="dk2" accent1="accent1" accent2="accent2" accent3="accent3" accent4="accent4" accent5="accent5" accent6="accent6" hlink="hlink" folHlink="folHlink"/>
  <p:sldLayoutIdLst>
    <p:sldLayoutId id="2147483907" r:id="rId1"/>
    <p:sldLayoutId id="2147483908" r:id="rId2"/>
    <p:sldLayoutId id="2147483909" r:id="rId3"/>
    <p:sldLayoutId id="2147483910" r:id="rId4"/>
    <p:sldLayoutId id="2147483911" r:id="rId5"/>
    <p:sldLayoutId id="2147483912" r:id="rId6"/>
    <p:sldLayoutId id="2147483913" r:id="rId7"/>
    <p:sldLayoutId id="2147483914" r:id="rId8"/>
    <p:sldLayoutId id="2147483915" r:id="rId9"/>
    <p:sldLayoutId id="2147483916" r:id="rId10"/>
    <p:sldLayoutId id="2147483917" r:id="rId11"/>
    <p:sldLayoutId id="2147483918" r:id="rId12"/>
    <p:sldLayoutId id="2147483919" r:id="rId13"/>
    <p:sldLayoutId id="2147483920" r:id="rId14"/>
    <p:sldLayoutId id="2147483921" r:id="rId15"/>
    <p:sldLayoutId id="2147483922" r:id="rId16"/>
    <p:sldLayoutId id="2147483923" r:id="rId17"/>
    <p:sldLayoutId id="2147483924" r:id="rId1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9A5FDEFE-889D-848A-C548-B01379110D17}"/>
              </a:ext>
            </a:extLst>
          </p:cNvPr>
          <p:cNvSpPr txBox="1">
            <a:spLocks/>
          </p:cNvSpPr>
          <p:nvPr/>
        </p:nvSpPr>
        <p:spPr>
          <a:xfrm>
            <a:off x="1778675" y="227397"/>
            <a:ext cx="8634648" cy="3456384"/>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200"/>
              </a:spcBef>
              <a:buFont typeface="Arial" panose="020B0604020202020204" pitchFamily="34" charset="0"/>
              <a:buNone/>
              <a:defRPr sz="2400" kern="1200">
                <a:solidFill>
                  <a:schemeClr val="tx1"/>
                </a:solidFill>
                <a:latin typeface="+mj-lt"/>
                <a:ea typeface="+mn-ea"/>
                <a:cs typeface="+mn-cs"/>
              </a:defRPr>
            </a:lvl1pPr>
            <a:lvl2pPr marL="457200" indent="0" algn="ctr" defTabSz="914400" rtl="0" eaLnBrk="1" latinLnBrk="0" hangingPunct="1">
              <a:lnSpc>
                <a:spcPct val="90000"/>
              </a:lnSpc>
              <a:spcBef>
                <a:spcPts val="12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6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6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6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6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6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6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600"/>
              </a:spcBef>
              <a:buFont typeface="Arial" panose="020B0604020202020204" pitchFamily="34" charset="0"/>
              <a:buNone/>
              <a:defRPr sz="1600" kern="1200">
                <a:solidFill>
                  <a:schemeClr val="tx1"/>
                </a:solidFill>
                <a:latin typeface="+mn-lt"/>
                <a:ea typeface="+mn-ea"/>
                <a:cs typeface="+mn-cs"/>
              </a:defRPr>
            </a:lvl9pPr>
          </a:lstStyle>
          <a:p>
            <a:pPr algn="ctr"/>
            <a:r>
              <a:rPr lang="en-US" sz="2600" b="1" dirty="0">
                <a:ln w="1905"/>
                <a:solidFill>
                  <a:schemeClr val="tx2"/>
                </a:solidFill>
                <a:effectLst>
                  <a:innerShdw blurRad="69850" dist="43180" dir="5400000">
                    <a:srgbClr val="000000">
                      <a:alpha val="65000"/>
                    </a:srgbClr>
                  </a:innerShdw>
                </a:effectLst>
                <a:cs typeface="Calibri" pitchFamily="34" charset="0"/>
              </a:rPr>
              <a:t>KJEI’s</a:t>
            </a:r>
          </a:p>
          <a:p>
            <a:pPr algn="ctr"/>
            <a:r>
              <a:rPr lang="en-US" sz="2600" b="1" dirty="0">
                <a:ln w="1905"/>
                <a:solidFill>
                  <a:schemeClr val="tx2"/>
                </a:solidFill>
                <a:effectLst>
                  <a:innerShdw blurRad="69850" dist="43180" dir="5400000">
                    <a:srgbClr val="000000">
                      <a:alpha val="65000"/>
                    </a:srgbClr>
                  </a:innerShdw>
                </a:effectLst>
                <a:cs typeface="Calibri" pitchFamily="34" charset="0"/>
              </a:rPr>
              <a:t>K J College of Engineering &amp; Management Research, </a:t>
            </a:r>
          </a:p>
          <a:p>
            <a:pPr algn="ctr"/>
            <a:r>
              <a:rPr lang="en-US" sz="2600" b="1" dirty="0">
                <a:ln w="1905"/>
                <a:solidFill>
                  <a:schemeClr val="tx2"/>
                </a:solidFill>
                <a:effectLst>
                  <a:innerShdw blurRad="69850" dist="43180" dir="5400000">
                    <a:srgbClr val="000000">
                      <a:alpha val="65000"/>
                    </a:srgbClr>
                  </a:innerShdw>
                </a:effectLst>
                <a:cs typeface="Calibri" pitchFamily="34" charset="0"/>
              </a:rPr>
              <a:t>Pune</a:t>
            </a:r>
            <a:br>
              <a:rPr lang="en-US" sz="2600" b="1" dirty="0">
                <a:ln w="1905"/>
                <a:solidFill>
                  <a:schemeClr val="tx2"/>
                </a:solidFill>
                <a:effectLst>
                  <a:innerShdw blurRad="69850" dist="43180" dir="5400000">
                    <a:srgbClr val="000000">
                      <a:alpha val="65000"/>
                    </a:srgbClr>
                  </a:innerShdw>
                </a:effectLst>
                <a:cs typeface="Calibri" pitchFamily="34" charset="0"/>
              </a:rPr>
            </a:br>
            <a:r>
              <a:rPr lang="en-US" sz="2600" b="1" dirty="0">
                <a:ln w="1905"/>
                <a:solidFill>
                  <a:schemeClr val="tx2"/>
                </a:solidFill>
                <a:effectLst>
                  <a:innerShdw blurRad="69850" dist="43180" dir="5400000">
                    <a:srgbClr val="000000">
                      <a:alpha val="65000"/>
                    </a:srgbClr>
                  </a:innerShdw>
                </a:effectLst>
                <a:cs typeface="Calibri" pitchFamily="34" charset="0"/>
              </a:rPr>
              <a:t>DEPARTMENT OF COMPUTER ENGINEERING</a:t>
            </a:r>
          </a:p>
          <a:p>
            <a:pPr algn="ctr"/>
            <a:r>
              <a:rPr lang="en-US" sz="2600" b="1" dirty="0">
                <a:solidFill>
                  <a:schemeClr val="tx2"/>
                </a:solidFill>
                <a:cs typeface="Calibri" pitchFamily="34" charset="0"/>
              </a:rPr>
              <a:t>Year: 2022-2023</a:t>
            </a:r>
          </a:p>
          <a:p>
            <a:pPr algn="ctr"/>
            <a:endParaRPr lang="en-US" sz="2600" dirty="0">
              <a:solidFill>
                <a:schemeClr val="tx2"/>
              </a:solidFill>
              <a:cs typeface="Calibri" pitchFamily="34" charset="0"/>
            </a:endParaRPr>
          </a:p>
          <a:p>
            <a:endParaRPr lang="en-IN" sz="2600" dirty="0">
              <a:solidFill>
                <a:schemeClr val="tx2"/>
              </a:solidFill>
            </a:endParaRPr>
          </a:p>
        </p:txBody>
      </p:sp>
      <p:pic>
        <p:nvPicPr>
          <p:cNvPr id="5" name="Picture 4">
            <a:extLst>
              <a:ext uri="{FF2B5EF4-FFF2-40B4-BE49-F238E27FC236}">
                <a16:creationId xmlns:a16="http://schemas.microsoft.com/office/drawing/2014/main" id="{23067F91-AF57-7F6C-EA93-5CB428A60CE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2123" y="548681"/>
            <a:ext cx="1436552" cy="194421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7298E894-52BA-385E-EAA9-51354B306AFE}"/>
              </a:ext>
            </a:extLst>
          </p:cNvPr>
          <p:cNvSpPr txBox="1"/>
          <p:nvPr/>
        </p:nvSpPr>
        <p:spPr>
          <a:xfrm>
            <a:off x="812720" y="3018696"/>
            <a:ext cx="10566557" cy="1446550"/>
          </a:xfrm>
          <a:prstGeom prst="rect">
            <a:avLst/>
          </a:prstGeom>
          <a:noFill/>
        </p:spPr>
        <p:txBody>
          <a:bodyPr wrap="square" rtlCol="0">
            <a:spAutoFit/>
          </a:bodyPr>
          <a:lstStyle/>
          <a:p>
            <a:pPr algn="ctr"/>
            <a:r>
              <a:rPr lang="en-US" sz="4400" b="1" dirty="0">
                <a:solidFill>
                  <a:schemeClr val="tx2"/>
                </a:solidFill>
                <a:effectLst>
                  <a:outerShdw blurRad="38100" dist="38100" dir="2700000" algn="tl">
                    <a:srgbClr val="000000">
                      <a:alpha val="43137"/>
                    </a:srgbClr>
                  </a:outerShdw>
                </a:effectLst>
                <a:latin typeface="+mj-lt"/>
              </a:rPr>
              <a:t>Motion Detection &amp; Multiple Face Identification using Webcam</a:t>
            </a:r>
            <a:endParaRPr lang="en-IN" sz="4400" b="1" dirty="0">
              <a:solidFill>
                <a:schemeClr val="tx2"/>
              </a:solidFill>
              <a:effectLst>
                <a:outerShdw blurRad="38100" dist="38100" dir="2700000" algn="tl">
                  <a:srgbClr val="000000">
                    <a:alpha val="43137"/>
                  </a:srgbClr>
                </a:outerShdw>
              </a:effectLst>
              <a:latin typeface="+mj-lt"/>
            </a:endParaRPr>
          </a:p>
        </p:txBody>
      </p:sp>
      <p:pic>
        <p:nvPicPr>
          <p:cNvPr id="7" name="Picture 2">
            <a:extLst>
              <a:ext uri="{FF2B5EF4-FFF2-40B4-BE49-F238E27FC236}">
                <a16:creationId xmlns:a16="http://schemas.microsoft.com/office/drawing/2014/main" id="{1787E546-5712-706B-9E3C-9AEFE7F063F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495489" y="0"/>
            <a:ext cx="1433159" cy="134076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Table 2">
            <a:extLst>
              <a:ext uri="{FF2B5EF4-FFF2-40B4-BE49-F238E27FC236}">
                <a16:creationId xmlns:a16="http://schemas.microsoft.com/office/drawing/2014/main" id="{427D1F2E-95B0-C735-7DDA-4C00A54F48DB}"/>
              </a:ext>
            </a:extLst>
          </p:cNvPr>
          <p:cNvGraphicFramePr>
            <a:graphicFrameLocks noGrp="1"/>
          </p:cNvGraphicFramePr>
          <p:nvPr>
            <p:extLst>
              <p:ext uri="{D42A27DB-BD31-4B8C-83A1-F6EECF244321}">
                <p14:modId xmlns:p14="http://schemas.microsoft.com/office/powerpoint/2010/main" val="531993469"/>
              </p:ext>
            </p:extLst>
          </p:nvPr>
        </p:nvGraphicFramePr>
        <p:xfrm>
          <a:off x="2031998" y="4595941"/>
          <a:ext cx="8128000" cy="18542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398300104"/>
                    </a:ext>
                  </a:extLst>
                </a:gridCol>
                <a:gridCol w="4064000">
                  <a:extLst>
                    <a:ext uri="{9D8B030D-6E8A-4147-A177-3AD203B41FA5}">
                      <a16:colId xmlns:a16="http://schemas.microsoft.com/office/drawing/2014/main" val="28333463"/>
                    </a:ext>
                  </a:extLst>
                </a:gridCol>
              </a:tblGrid>
              <a:tr h="370840">
                <a:tc>
                  <a:txBody>
                    <a:bodyPr/>
                    <a:lstStyle/>
                    <a:p>
                      <a:pPr algn="l"/>
                      <a:r>
                        <a:rPr lang="en-US" b="1" dirty="0">
                          <a:solidFill>
                            <a:srgbClr val="355071"/>
                          </a:solidFill>
                        </a:rPr>
                        <a:t>Guide by</a:t>
                      </a:r>
                      <a:endParaRPr lang="en-IN" b="1" dirty="0">
                        <a:solidFill>
                          <a:srgbClr val="35507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l"/>
                      <a:r>
                        <a:rPr lang="en-US" b="1" dirty="0">
                          <a:solidFill>
                            <a:srgbClr val="355071"/>
                          </a:solidFill>
                        </a:rPr>
                        <a:t>Group Members</a:t>
                      </a:r>
                      <a:endParaRPr lang="en-IN" b="1" dirty="0">
                        <a:solidFill>
                          <a:srgbClr val="35507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83662177"/>
                  </a:ext>
                </a:extLst>
              </a:tr>
              <a:tr h="370840">
                <a:tc>
                  <a:txBody>
                    <a:bodyPr/>
                    <a:lstStyle/>
                    <a:p>
                      <a:pPr algn="l"/>
                      <a:r>
                        <a:rPr lang="en-US" b="1" dirty="0">
                          <a:solidFill>
                            <a:srgbClr val="355071"/>
                          </a:solidFill>
                        </a:rPr>
                        <a:t>Prof. Rohini V. </a:t>
                      </a:r>
                      <a:r>
                        <a:rPr lang="en-US" b="1" dirty="0" err="1">
                          <a:solidFill>
                            <a:srgbClr val="355071"/>
                          </a:solidFill>
                        </a:rPr>
                        <a:t>Agawane</a:t>
                      </a:r>
                      <a:endParaRPr lang="en-IN" b="1" dirty="0">
                        <a:solidFill>
                          <a:srgbClr val="35507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l"/>
                      <a:r>
                        <a:rPr lang="en-US" b="1" dirty="0">
                          <a:solidFill>
                            <a:srgbClr val="355071"/>
                          </a:solidFill>
                        </a:rPr>
                        <a:t>Varad Kalkhaire</a:t>
                      </a:r>
                      <a:endParaRPr lang="en-IN" b="1" dirty="0">
                        <a:solidFill>
                          <a:srgbClr val="35507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54363435"/>
                  </a:ext>
                </a:extLst>
              </a:tr>
              <a:tr h="370840">
                <a:tc>
                  <a:txBody>
                    <a:bodyPr/>
                    <a:lstStyle/>
                    <a:p>
                      <a:pPr algn="ctr"/>
                      <a:endParaRPr lang="en-IN" b="1" dirty="0">
                        <a:solidFill>
                          <a:srgbClr val="35507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a:r>
                        <a:rPr lang="en-US" b="1" dirty="0">
                          <a:solidFill>
                            <a:srgbClr val="355071"/>
                          </a:solidFill>
                        </a:rPr>
                        <a:t>Ashutosh </a:t>
                      </a:r>
                      <a:r>
                        <a:rPr lang="en-US" b="1" dirty="0" err="1">
                          <a:solidFill>
                            <a:srgbClr val="355071"/>
                          </a:solidFill>
                        </a:rPr>
                        <a:t>Khatavkar</a:t>
                      </a:r>
                      <a:endParaRPr lang="en-IN" b="1" dirty="0">
                        <a:solidFill>
                          <a:srgbClr val="35507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380086907"/>
                  </a:ext>
                </a:extLst>
              </a:tr>
              <a:tr h="370840">
                <a:tc>
                  <a:txBody>
                    <a:bodyPr/>
                    <a:lstStyle/>
                    <a:p>
                      <a:pPr algn="ctr"/>
                      <a:endParaRPr lang="en-IN" b="1" dirty="0">
                        <a:solidFill>
                          <a:srgbClr val="35507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a:r>
                        <a:rPr lang="en-US" b="1" dirty="0">
                          <a:solidFill>
                            <a:srgbClr val="355071"/>
                          </a:solidFill>
                        </a:rPr>
                        <a:t>Shubham </a:t>
                      </a:r>
                      <a:r>
                        <a:rPr lang="en-US" b="1" dirty="0" err="1">
                          <a:solidFill>
                            <a:srgbClr val="355071"/>
                          </a:solidFill>
                        </a:rPr>
                        <a:t>Dhanne</a:t>
                      </a:r>
                      <a:endParaRPr lang="en-IN" b="1" dirty="0">
                        <a:solidFill>
                          <a:srgbClr val="35507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8086332"/>
                  </a:ext>
                </a:extLst>
              </a:tr>
              <a:tr h="370840">
                <a:tc>
                  <a:txBody>
                    <a:bodyPr/>
                    <a:lstStyle/>
                    <a:p>
                      <a:pPr algn="ctr"/>
                      <a:endParaRPr lang="en-IN" b="1" dirty="0">
                        <a:solidFill>
                          <a:srgbClr val="35507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a:r>
                        <a:rPr lang="en-US" b="1" dirty="0">
                          <a:solidFill>
                            <a:srgbClr val="355071"/>
                          </a:solidFill>
                        </a:rPr>
                        <a:t>Shantanu </a:t>
                      </a:r>
                      <a:r>
                        <a:rPr lang="en-US" b="1" dirty="0" err="1">
                          <a:solidFill>
                            <a:srgbClr val="355071"/>
                          </a:solidFill>
                        </a:rPr>
                        <a:t>Bhumkar</a:t>
                      </a:r>
                      <a:endParaRPr lang="en-IN" b="1" dirty="0">
                        <a:solidFill>
                          <a:srgbClr val="35507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650360991"/>
                  </a:ext>
                </a:extLst>
              </a:tr>
            </a:tbl>
          </a:graphicData>
        </a:graphic>
      </p:graphicFrame>
    </p:spTree>
    <p:extLst>
      <p:ext uri="{BB962C8B-B14F-4D97-AF65-F5344CB8AC3E}">
        <p14:creationId xmlns:p14="http://schemas.microsoft.com/office/powerpoint/2010/main" val="700589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EF00E-304D-7338-FEF0-F5D5BE0C12DF}"/>
              </a:ext>
            </a:extLst>
          </p:cNvPr>
          <p:cNvSpPr>
            <a:spLocks noGrp="1"/>
          </p:cNvSpPr>
          <p:nvPr>
            <p:ph type="title"/>
          </p:nvPr>
        </p:nvSpPr>
        <p:spPr>
          <a:xfrm>
            <a:off x="1066800" y="-33758"/>
            <a:ext cx="10058400" cy="1188720"/>
          </a:xfrm>
        </p:spPr>
        <p:txBody>
          <a:bodyPr/>
          <a:lstStyle/>
          <a:p>
            <a:r>
              <a:rPr lang="en-US" dirty="0"/>
              <a:t>Table of content</a:t>
            </a:r>
            <a:endParaRPr lang="en-IN" dirty="0"/>
          </a:p>
        </p:txBody>
      </p:sp>
      <p:sp>
        <p:nvSpPr>
          <p:cNvPr id="4" name="TextBox 3">
            <a:extLst>
              <a:ext uri="{FF2B5EF4-FFF2-40B4-BE49-F238E27FC236}">
                <a16:creationId xmlns:a16="http://schemas.microsoft.com/office/drawing/2014/main" id="{B9012763-772C-2B67-7D19-9612F785763A}"/>
              </a:ext>
            </a:extLst>
          </p:cNvPr>
          <p:cNvSpPr txBox="1"/>
          <p:nvPr/>
        </p:nvSpPr>
        <p:spPr>
          <a:xfrm>
            <a:off x="2108950" y="1335574"/>
            <a:ext cx="7330447" cy="369332"/>
          </a:xfrm>
          <a:prstGeom prst="rect">
            <a:avLst/>
          </a:prstGeom>
          <a:solidFill>
            <a:schemeClr val="bg1">
              <a:lumMod val="85000"/>
            </a:schemeClr>
          </a:solidFill>
          <a:ln w="6350">
            <a:solidFill>
              <a:schemeClr val="tx1"/>
            </a:solidFill>
          </a:ln>
          <a:effectLst>
            <a:outerShdw blurRad="50800" dist="38100" dir="2700000" algn="tl" rotWithShape="0">
              <a:srgbClr val="00B0F0">
                <a:alpha val="40000"/>
              </a:srgbClr>
            </a:outerShdw>
          </a:effectLst>
        </p:spPr>
        <p:style>
          <a:lnRef idx="1">
            <a:schemeClr val="accent1"/>
          </a:lnRef>
          <a:fillRef idx="2">
            <a:schemeClr val="accent1"/>
          </a:fillRef>
          <a:effectRef idx="1">
            <a:schemeClr val="accent1"/>
          </a:effectRef>
          <a:fontRef idx="minor">
            <a:schemeClr val="dk1"/>
          </a:fontRef>
        </p:style>
        <p:txBody>
          <a:bodyPr wrap="square" rtlCol="0">
            <a:spAutoFit/>
          </a:bodyPr>
          <a:lstStyle/>
          <a:p>
            <a:pPr indent="457200"/>
            <a:r>
              <a:rPr lang="en-US" b="1" dirty="0">
                <a:solidFill>
                  <a:schemeClr val="tx1"/>
                </a:solidFill>
                <a:latin typeface="Trebuchet MS" pitchFamily="34" charset="0"/>
              </a:rPr>
              <a:t>Motivation         </a:t>
            </a:r>
          </a:p>
        </p:txBody>
      </p:sp>
      <p:sp>
        <p:nvSpPr>
          <p:cNvPr id="5" name="TextBox 4">
            <a:extLst>
              <a:ext uri="{FF2B5EF4-FFF2-40B4-BE49-F238E27FC236}">
                <a16:creationId xmlns:a16="http://schemas.microsoft.com/office/drawing/2014/main" id="{0C9F92A1-B98B-70EB-294E-A35776FBC3D2}"/>
              </a:ext>
            </a:extLst>
          </p:cNvPr>
          <p:cNvSpPr txBox="1"/>
          <p:nvPr/>
        </p:nvSpPr>
        <p:spPr>
          <a:xfrm>
            <a:off x="2121432" y="2312371"/>
            <a:ext cx="7330447" cy="369332"/>
          </a:xfrm>
          <a:prstGeom prst="rect">
            <a:avLst/>
          </a:prstGeom>
          <a:solidFill>
            <a:schemeClr val="bg1">
              <a:lumMod val="85000"/>
            </a:schemeClr>
          </a:solidFill>
          <a:ln w="6350">
            <a:solidFill>
              <a:schemeClr val="tx1"/>
            </a:solidFill>
          </a:ln>
          <a:effectLst>
            <a:outerShdw blurRad="50800" dist="38100" dir="2700000" algn="tl" rotWithShape="0">
              <a:srgbClr val="00B0F0">
                <a:alpha val="40000"/>
              </a:srgbClr>
            </a:outerShdw>
          </a:effectLst>
        </p:spPr>
        <p:style>
          <a:lnRef idx="1">
            <a:schemeClr val="accent1"/>
          </a:lnRef>
          <a:fillRef idx="2">
            <a:schemeClr val="accent1"/>
          </a:fillRef>
          <a:effectRef idx="1">
            <a:schemeClr val="accent1"/>
          </a:effectRef>
          <a:fontRef idx="minor">
            <a:schemeClr val="dk1"/>
          </a:fontRef>
        </p:style>
        <p:txBody>
          <a:bodyPr wrap="square" rtlCol="0">
            <a:spAutoFit/>
          </a:bodyPr>
          <a:lstStyle/>
          <a:p>
            <a:pPr indent="457200"/>
            <a:r>
              <a:rPr lang="en-US" b="1" dirty="0">
                <a:solidFill>
                  <a:schemeClr val="tx1"/>
                </a:solidFill>
                <a:latin typeface="Trebuchet MS" pitchFamily="34" charset="0"/>
              </a:rPr>
              <a:t>Software &amp; Hardware Requirements</a:t>
            </a:r>
          </a:p>
        </p:txBody>
      </p:sp>
      <p:sp>
        <p:nvSpPr>
          <p:cNvPr id="6" name="TextBox 5">
            <a:extLst>
              <a:ext uri="{FF2B5EF4-FFF2-40B4-BE49-F238E27FC236}">
                <a16:creationId xmlns:a16="http://schemas.microsoft.com/office/drawing/2014/main" id="{699E2051-4D74-A70E-169F-77E87288A1AF}"/>
              </a:ext>
            </a:extLst>
          </p:cNvPr>
          <p:cNvSpPr txBox="1"/>
          <p:nvPr/>
        </p:nvSpPr>
        <p:spPr>
          <a:xfrm>
            <a:off x="2121432" y="3337879"/>
            <a:ext cx="7330447" cy="369332"/>
          </a:xfrm>
          <a:prstGeom prst="rect">
            <a:avLst/>
          </a:prstGeom>
          <a:solidFill>
            <a:schemeClr val="bg1">
              <a:lumMod val="85000"/>
            </a:schemeClr>
          </a:solidFill>
          <a:ln w="6350">
            <a:solidFill>
              <a:schemeClr val="tx1"/>
            </a:solidFill>
          </a:ln>
          <a:effectLst>
            <a:outerShdw blurRad="50800" dist="38100" dir="2700000" algn="tl" rotWithShape="0">
              <a:srgbClr val="00B0F0">
                <a:alpha val="40000"/>
              </a:srgbClr>
            </a:outerShdw>
          </a:effectLst>
        </p:spPr>
        <p:style>
          <a:lnRef idx="1">
            <a:schemeClr val="accent1"/>
          </a:lnRef>
          <a:fillRef idx="2">
            <a:schemeClr val="accent1"/>
          </a:fillRef>
          <a:effectRef idx="1">
            <a:schemeClr val="accent1"/>
          </a:effectRef>
          <a:fontRef idx="minor">
            <a:schemeClr val="dk1"/>
          </a:fontRef>
        </p:style>
        <p:txBody>
          <a:bodyPr wrap="square" rtlCol="0">
            <a:spAutoFit/>
          </a:bodyPr>
          <a:lstStyle/>
          <a:p>
            <a:pPr indent="457200"/>
            <a:r>
              <a:rPr lang="en-US" b="1" dirty="0">
                <a:solidFill>
                  <a:schemeClr val="tx1"/>
                </a:solidFill>
                <a:latin typeface="Trebuchet MS" pitchFamily="34" charset="0"/>
              </a:rPr>
              <a:t>Modules</a:t>
            </a:r>
          </a:p>
        </p:txBody>
      </p:sp>
      <p:sp>
        <p:nvSpPr>
          <p:cNvPr id="7" name="TextBox 6">
            <a:extLst>
              <a:ext uri="{FF2B5EF4-FFF2-40B4-BE49-F238E27FC236}">
                <a16:creationId xmlns:a16="http://schemas.microsoft.com/office/drawing/2014/main" id="{1D1F091E-3292-F932-B1F6-80E9553A9D23}"/>
              </a:ext>
            </a:extLst>
          </p:cNvPr>
          <p:cNvSpPr txBox="1"/>
          <p:nvPr/>
        </p:nvSpPr>
        <p:spPr>
          <a:xfrm>
            <a:off x="2121432" y="3858243"/>
            <a:ext cx="7330447" cy="369332"/>
          </a:xfrm>
          <a:prstGeom prst="rect">
            <a:avLst/>
          </a:prstGeom>
          <a:solidFill>
            <a:schemeClr val="bg1">
              <a:lumMod val="85000"/>
            </a:schemeClr>
          </a:solidFill>
          <a:ln w="6350">
            <a:solidFill>
              <a:schemeClr val="tx1"/>
            </a:solidFill>
          </a:ln>
          <a:effectLst>
            <a:outerShdw blurRad="50800" dist="38100" dir="2700000" algn="tl" rotWithShape="0">
              <a:srgbClr val="00B0F0">
                <a:alpha val="40000"/>
              </a:srgbClr>
            </a:outerShdw>
          </a:effectLst>
        </p:spPr>
        <p:style>
          <a:lnRef idx="1">
            <a:schemeClr val="accent1"/>
          </a:lnRef>
          <a:fillRef idx="2">
            <a:schemeClr val="accent1"/>
          </a:fillRef>
          <a:effectRef idx="1">
            <a:schemeClr val="accent1"/>
          </a:effectRef>
          <a:fontRef idx="minor">
            <a:schemeClr val="dk1"/>
          </a:fontRef>
        </p:style>
        <p:txBody>
          <a:bodyPr wrap="square" rtlCol="0">
            <a:spAutoFit/>
          </a:bodyPr>
          <a:lstStyle/>
          <a:p>
            <a:pPr indent="457200"/>
            <a:r>
              <a:rPr lang="en-US" b="1" dirty="0">
                <a:solidFill>
                  <a:schemeClr val="tx1"/>
                </a:solidFill>
                <a:latin typeface="Trebuchet MS" pitchFamily="34" charset="0"/>
              </a:rPr>
              <a:t>Activity Diagram </a:t>
            </a:r>
          </a:p>
        </p:txBody>
      </p:sp>
      <p:sp>
        <p:nvSpPr>
          <p:cNvPr id="8" name="TextBox 7">
            <a:extLst>
              <a:ext uri="{FF2B5EF4-FFF2-40B4-BE49-F238E27FC236}">
                <a16:creationId xmlns:a16="http://schemas.microsoft.com/office/drawing/2014/main" id="{BD120B45-A6A8-E9C7-51A1-C69200C57707}"/>
              </a:ext>
            </a:extLst>
          </p:cNvPr>
          <p:cNvSpPr txBox="1"/>
          <p:nvPr/>
        </p:nvSpPr>
        <p:spPr>
          <a:xfrm>
            <a:off x="2108949" y="2836678"/>
            <a:ext cx="7330447" cy="369332"/>
          </a:xfrm>
          <a:prstGeom prst="rect">
            <a:avLst/>
          </a:prstGeom>
          <a:solidFill>
            <a:schemeClr val="bg1">
              <a:lumMod val="85000"/>
            </a:schemeClr>
          </a:solidFill>
          <a:ln w="6350">
            <a:solidFill>
              <a:schemeClr val="tx1"/>
            </a:solidFill>
          </a:ln>
          <a:effectLst>
            <a:outerShdw blurRad="50800" dist="38100" dir="2700000" algn="tl" rotWithShape="0">
              <a:srgbClr val="00B0F0">
                <a:alpha val="40000"/>
              </a:srgbClr>
            </a:outerShdw>
          </a:effectLst>
        </p:spPr>
        <p:style>
          <a:lnRef idx="1">
            <a:schemeClr val="accent1"/>
          </a:lnRef>
          <a:fillRef idx="2">
            <a:schemeClr val="accent1"/>
          </a:fillRef>
          <a:effectRef idx="1">
            <a:schemeClr val="accent1"/>
          </a:effectRef>
          <a:fontRef idx="minor">
            <a:schemeClr val="dk1"/>
          </a:fontRef>
        </p:style>
        <p:txBody>
          <a:bodyPr wrap="square" rtlCol="0">
            <a:spAutoFit/>
          </a:bodyPr>
          <a:lstStyle/>
          <a:p>
            <a:pPr indent="457200"/>
            <a:r>
              <a:rPr lang="en-US" b="1" dirty="0">
                <a:solidFill>
                  <a:schemeClr val="tx1"/>
                </a:solidFill>
                <a:latin typeface="Trebuchet MS" pitchFamily="34" charset="0"/>
              </a:rPr>
              <a:t>Proposed System</a:t>
            </a:r>
          </a:p>
        </p:txBody>
      </p:sp>
      <p:sp>
        <p:nvSpPr>
          <p:cNvPr id="9" name="TextBox 8">
            <a:extLst>
              <a:ext uri="{FF2B5EF4-FFF2-40B4-BE49-F238E27FC236}">
                <a16:creationId xmlns:a16="http://schemas.microsoft.com/office/drawing/2014/main" id="{01C8F1DC-E83B-6624-D720-CE98235D1B40}"/>
              </a:ext>
            </a:extLst>
          </p:cNvPr>
          <p:cNvSpPr txBox="1"/>
          <p:nvPr/>
        </p:nvSpPr>
        <p:spPr>
          <a:xfrm>
            <a:off x="2108948" y="4838975"/>
            <a:ext cx="7330447" cy="369332"/>
          </a:xfrm>
          <a:prstGeom prst="rect">
            <a:avLst/>
          </a:prstGeom>
          <a:solidFill>
            <a:schemeClr val="bg1">
              <a:lumMod val="85000"/>
            </a:schemeClr>
          </a:solidFill>
          <a:ln w="6350">
            <a:solidFill>
              <a:schemeClr val="tx1"/>
            </a:solidFill>
          </a:ln>
          <a:effectLst>
            <a:outerShdw blurRad="50800" dist="38100" dir="2700000" algn="tl" rotWithShape="0">
              <a:srgbClr val="00B0F0">
                <a:alpha val="40000"/>
              </a:srgbClr>
            </a:outerShdw>
          </a:effectLst>
        </p:spPr>
        <p:style>
          <a:lnRef idx="1">
            <a:schemeClr val="accent1"/>
          </a:lnRef>
          <a:fillRef idx="2">
            <a:schemeClr val="accent1"/>
          </a:fillRef>
          <a:effectRef idx="1">
            <a:schemeClr val="accent1"/>
          </a:effectRef>
          <a:fontRef idx="minor">
            <a:schemeClr val="dk1"/>
          </a:fontRef>
        </p:style>
        <p:txBody>
          <a:bodyPr wrap="square" rtlCol="0">
            <a:spAutoFit/>
          </a:bodyPr>
          <a:lstStyle/>
          <a:p>
            <a:pPr indent="457200"/>
            <a:r>
              <a:rPr lang="en-US" b="1" dirty="0">
                <a:solidFill>
                  <a:schemeClr val="tx1"/>
                </a:solidFill>
                <a:latin typeface="Trebuchet MS" pitchFamily="34" charset="0"/>
              </a:rPr>
              <a:t>Test Cases</a:t>
            </a:r>
          </a:p>
        </p:txBody>
      </p:sp>
      <p:sp>
        <p:nvSpPr>
          <p:cNvPr id="10" name="TextBox 9">
            <a:extLst>
              <a:ext uri="{FF2B5EF4-FFF2-40B4-BE49-F238E27FC236}">
                <a16:creationId xmlns:a16="http://schemas.microsoft.com/office/drawing/2014/main" id="{69196EC8-D1F3-C787-6865-96ACA5C19F12}"/>
              </a:ext>
            </a:extLst>
          </p:cNvPr>
          <p:cNvSpPr txBox="1"/>
          <p:nvPr/>
        </p:nvSpPr>
        <p:spPr>
          <a:xfrm>
            <a:off x="2121431" y="5316228"/>
            <a:ext cx="7330447" cy="369332"/>
          </a:xfrm>
          <a:prstGeom prst="rect">
            <a:avLst/>
          </a:prstGeom>
          <a:solidFill>
            <a:schemeClr val="bg1">
              <a:lumMod val="85000"/>
            </a:schemeClr>
          </a:solidFill>
          <a:ln w="6350">
            <a:solidFill>
              <a:schemeClr val="tx1"/>
            </a:solidFill>
          </a:ln>
          <a:effectLst>
            <a:outerShdw blurRad="50800" dist="38100" dir="2700000" algn="tl" rotWithShape="0">
              <a:srgbClr val="00B0F0">
                <a:alpha val="40000"/>
              </a:srgbClr>
            </a:outerShdw>
          </a:effectLst>
        </p:spPr>
        <p:style>
          <a:lnRef idx="1">
            <a:schemeClr val="accent1"/>
          </a:lnRef>
          <a:fillRef idx="2">
            <a:schemeClr val="accent1"/>
          </a:fillRef>
          <a:effectRef idx="1">
            <a:schemeClr val="accent1"/>
          </a:effectRef>
          <a:fontRef idx="minor">
            <a:schemeClr val="dk1"/>
          </a:fontRef>
        </p:style>
        <p:txBody>
          <a:bodyPr wrap="square" rtlCol="0">
            <a:spAutoFit/>
          </a:bodyPr>
          <a:lstStyle/>
          <a:p>
            <a:pPr indent="457200"/>
            <a:r>
              <a:rPr lang="en-US" b="1" dirty="0">
                <a:solidFill>
                  <a:schemeClr val="tx1"/>
                </a:solidFill>
                <a:latin typeface="Trebuchet MS" pitchFamily="34" charset="0"/>
              </a:rPr>
              <a:t>Conclusion</a:t>
            </a:r>
          </a:p>
        </p:txBody>
      </p:sp>
      <p:sp>
        <p:nvSpPr>
          <p:cNvPr id="11" name="Rounded Rectangle 21">
            <a:extLst>
              <a:ext uri="{FF2B5EF4-FFF2-40B4-BE49-F238E27FC236}">
                <a16:creationId xmlns:a16="http://schemas.microsoft.com/office/drawing/2014/main" id="{F0428E63-FF22-5E3B-4F33-AC21477156C5}"/>
              </a:ext>
            </a:extLst>
          </p:cNvPr>
          <p:cNvSpPr/>
          <p:nvPr/>
        </p:nvSpPr>
        <p:spPr>
          <a:xfrm>
            <a:off x="2108946" y="1321335"/>
            <a:ext cx="401498" cy="407364"/>
          </a:xfrm>
          <a:prstGeom prst="roundRect">
            <a:avLst/>
          </a:prstGeom>
          <a:solidFill>
            <a:srgbClr val="0070C0"/>
          </a:solidFill>
          <a:ln/>
          <a:effectLst>
            <a:outerShdw blurRad="50800" dist="38100" dir="5400000" algn="t" rotWithShape="0">
              <a:prstClr val="black">
                <a:alpha val="40000"/>
              </a:prstClr>
            </a:outerShdw>
          </a:effectLst>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1500" dirty="0">
                <a:solidFill>
                  <a:schemeClr val="tx1"/>
                </a:solidFill>
                <a:latin typeface="Trebuchet MS" pitchFamily="34" charset="0"/>
              </a:rPr>
              <a:t>2</a:t>
            </a:r>
          </a:p>
        </p:txBody>
      </p:sp>
      <p:sp>
        <p:nvSpPr>
          <p:cNvPr id="12" name="Rounded Rectangle 25">
            <a:extLst>
              <a:ext uri="{FF2B5EF4-FFF2-40B4-BE49-F238E27FC236}">
                <a16:creationId xmlns:a16="http://schemas.microsoft.com/office/drawing/2014/main" id="{A677D7B1-73DF-A423-97A0-98DAB86E6A6D}"/>
              </a:ext>
            </a:extLst>
          </p:cNvPr>
          <p:cNvSpPr/>
          <p:nvPr/>
        </p:nvSpPr>
        <p:spPr>
          <a:xfrm>
            <a:off x="2121432" y="2295520"/>
            <a:ext cx="380700" cy="386006"/>
          </a:xfrm>
          <a:prstGeom prst="roundRect">
            <a:avLst/>
          </a:prstGeom>
          <a:solidFill>
            <a:srgbClr val="0070C0"/>
          </a:solidFill>
          <a:ln/>
          <a:effectLst>
            <a:outerShdw blurRad="50800" dist="38100" dir="5400000" algn="t" rotWithShape="0">
              <a:prstClr val="black">
                <a:alpha val="40000"/>
              </a:prstClr>
            </a:outerShdw>
          </a:effectLst>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1500" dirty="0">
                <a:solidFill>
                  <a:schemeClr val="tx1"/>
                </a:solidFill>
                <a:latin typeface="Trebuchet MS" pitchFamily="34" charset="0"/>
              </a:rPr>
              <a:t>4</a:t>
            </a:r>
          </a:p>
        </p:txBody>
      </p:sp>
      <p:sp>
        <p:nvSpPr>
          <p:cNvPr id="13" name="Rounded Rectangle 27">
            <a:extLst>
              <a:ext uri="{FF2B5EF4-FFF2-40B4-BE49-F238E27FC236}">
                <a16:creationId xmlns:a16="http://schemas.microsoft.com/office/drawing/2014/main" id="{98605338-4D4B-6189-645D-A3E09E387EC5}"/>
              </a:ext>
            </a:extLst>
          </p:cNvPr>
          <p:cNvSpPr/>
          <p:nvPr/>
        </p:nvSpPr>
        <p:spPr>
          <a:xfrm>
            <a:off x="2121431" y="2840551"/>
            <a:ext cx="389013" cy="373506"/>
          </a:xfrm>
          <a:prstGeom prst="roundRect">
            <a:avLst/>
          </a:prstGeom>
          <a:solidFill>
            <a:srgbClr val="0070C0"/>
          </a:solidFill>
          <a:ln/>
          <a:effectLst>
            <a:outerShdw blurRad="50800" dist="38100" dir="5400000" algn="t" rotWithShape="0">
              <a:prstClr val="black">
                <a:alpha val="40000"/>
              </a:prstClr>
            </a:outerShdw>
          </a:effectLst>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1500" dirty="0">
                <a:solidFill>
                  <a:schemeClr val="tx1"/>
                </a:solidFill>
                <a:latin typeface="Trebuchet MS" pitchFamily="34" charset="0"/>
              </a:rPr>
              <a:t>5</a:t>
            </a:r>
          </a:p>
        </p:txBody>
      </p:sp>
      <p:sp>
        <p:nvSpPr>
          <p:cNvPr id="14" name="Rounded Rectangle 31">
            <a:extLst>
              <a:ext uri="{FF2B5EF4-FFF2-40B4-BE49-F238E27FC236}">
                <a16:creationId xmlns:a16="http://schemas.microsoft.com/office/drawing/2014/main" id="{EE0A4443-C2A5-8940-6AC0-20A72854D39C}"/>
              </a:ext>
            </a:extLst>
          </p:cNvPr>
          <p:cNvSpPr/>
          <p:nvPr/>
        </p:nvSpPr>
        <p:spPr>
          <a:xfrm>
            <a:off x="2121431" y="3329832"/>
            <a:ext cx="380700" cy="377379"/>
          </a:xfrm>
          <a:prstGeom prst="roundRect">
            <a:avLst/>
          </a:prstGeom>
          <a:solidFill>
            <a:srgbClr val="0070C0"/>
          </a:solidFill>
          <a:ln/>
          <a:effectLst>
            <a:outerShdw blurRad="50800" dist="38100" dir="5400000" algn="t" rotWithShape="0">
              <a:prstClr val="black">
                <a:alpha val="40000"/>
              </a:prstClr>
            </a:outerShdw>
          </a:effectLst>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1500" dirty="0">
                <a:solidFill>
                  <a:schemeClr val="tx1"/>
                </a:solidFill>
                <a:latin typeface="Trebuchet MS" pitchFamily="34" charset="0"/>
              </a:rPr>
              <a:t>6</a:t>
            </a:r>
          </a:p>
        </p:txBody>
      </p:sp>
      <p:sp>
        <p:nvSpPr>
          <p:cNvPr id="15" name="Rounded Rectangle 33">
            <a:extLst>
              <a:ext uri="{FF2B5EF4-FFF2-40B4-BE49-F238E27FC236}">
                <a16:creationId xmlns:a16="http://schemas.microsoft.com/office/drawing/2014/main" id="{C40DA1C6-1062-07DF-B6AD-3AC1E808BE95}"/>
              </a:ext>
            </a:extLst>
          </p:cNvPr>
          <p:cNvSpPr/>
          <p:nvPr/>
        </p:nvSpPr>
        <p:spPr>
          <a:xfrm>
            <a:off x="2121431" y="3860983"/>
            <a:ext cx="389013" cy="377379"/>
          </a:xfrm>
          <a:prstGeom prst="roundRect">
            <a:avLst/>
          </a:prstGeom>
          <a:solidFill>
            <a:srgbClr val="0070C0"/>
          </a:solidFill>
          <a:ln/>
          <a:effectLst>
            <a:outerShdw blurRad="50800" dist="38100" dir="5400000" algn="t" rotWithShape="0">
              <a:prstClr val="black">
                <a:alpha val="40000"/>
              </a:prstClr>
            </a:outerShdw>
          </a:effectLst>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1500" dirty="0">
                <a:solidFill>
                  <a:schemeClr val="tx1"/>
                </a:solidFill>
                <a:latin typeface="Trebuchet MS" pitchFamily="34" charset="0"/>
              </a:rPr>
              <a:t>7</a:t>
            </a:r>
          </a:p>
        </p:txBody>
      </p:sp>
      <p:sp>
        <p:nvSpPr>
          <p:cNvPr id="16" name="Rounded Rectangle 35">
            <a:extLst>
              <a:ext uri="{FF2B5EF4-FFF2-40B4-BE49-F238E27FC236}">
                <a16:creationId xmlns:a16="http://schemas.microsoft.com/office/drawing/2014/main" id="{F1CA6FB9-5751-F0F8-8723-614E438D5D53}"/>
              </a:ext>
            </a:extLst>
          </p:cNvPr>
          <p:cNvSpPr/>
          <p:nvPr/>
        </p:nvSpPr>
        <p:spPr>
          <a:xfrm>
            <a:off x="2108946" y="4829960"/>
            <a:ext cx="389013" cy="373506"/>
          </a:xfrm>
          <a:prstGeom prst="roundRect">
            <a:avLst/>
          </a:prstGeom>
          <a:solidFill>
            <a:srgbClr val="0070C0"/>
          </a:solidFill>
          <a:ln/>
          <a:effectLst>
            <a:outerShdw blurRad="50800" dist="38100" dir="5400000" algn="t" rotWithShape="0">
              <a:prstClr val="black">
                <a:alpha val="40000"/>
              </a:prstClr>
            </a:outerShdw>
          </a:effectLst>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1500" dirty="0">
                <a:solidFill>
                  <a:schemeClr val="tx1"/>
                </a:solidFill>
                <a:latin typeface="Trebuchet MS" pitchFamily="34" charset="0"/>
              </a:rPr>
              <a:t>9</a:t>
            </a:r>
          </a:p>
        </p:txBody>
      </p:sp>
      <p:sp>
        <p:nvSpPr>
          <p:cNvPr id="17" name="Rounded Rectangle 37">
            <a:extLst>
              <a:ext uri="{FF2B5EF4-FFF2-40B4-BE49-F238E27FC236}">
                <a16:creationId xmlns:a16="http://schemas.microsoft.com/office/drawing/2014/main" id="{A699781B-C91D-9817-77E1-83B1040FF421}"/>
              </a:ext>
            </a:extLst>
          </p:cNvPr>
          <p:cNvSpPr/>
          <p:nvPr/>
        </p:nvSpPr>
        <p:spPr>
          <a:xfrm>
            <a:off x="2121431" y="5307784"/>
            <a:ext cx="389013" cy="369332"/>
          </a:xfrm>
          <a:prstGeom prst="roundRect">
            <a:avLst/>
          </a:prstGeom>
          <a:solidFill>
            <a:srgbClr val="0070C0"/>
          </a:solidFill>
          <a:ln/>
          <a:effectLst>
            <a:outerShdw blurRad="50800" dist="38100" dir="5400000" algn="t" rotWithShape="0">
              <a:prstClr val="black">
                <a:alpha val="40000"/>
              </a:prstClr>
            </a:outerShdw>
          </a:effectLst>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1100" dirty="0">
                <a:solidFill>
                  <a:schemeClr val="tx1"/>
                </a:solidFill>
                <a:latin typeface="Trebuchet MS" pitchFamily="34" charset="0"/>
              </a:rPr>
              <a:t>10</a:t>
            </a:r>
          </a:p>
        </p:txBody>
      </p:sp>
      <p:sp>
        <p:nvSpPr>
          <p:cNvPr id="3" name="TextBox 2">
            <a:extLst>
              <a:ext uri="{FF2B5EF4-FFF2-40B4-BE49-F238E27FC236}">
                <a16:creationId xmlns:a16="http://schemas.microsoft.com/office/drawing/2014/main" id="{C7824DC6-22F4-190E-EC2E-F2FBC934253C}"/>
              </a:ext>
            </a:extLst>
          </p:cNvPr>
          <p:cNvSpPr txBox="1"/>
          <p:nvPr/>
        </p:nvSpPr>
        <p:spPr>
          <a:xfrm>
            <a:off x="2108949" y="1820893"/>
            <a:ext cx="7330447" cy="369332"/>
          </a:xfrm>
          <a:prstGeom prst="rect">
            <a:avLst/>
          </a:prstGeom>
          <a:solidFill>
            <a:schemeClr val="bg1">
              <a:lumMod val="85000"/>
            </a:schemeClr>
          </a:solidFill>
          <a:ln w="6350">
            <a:solidFill>
              <a:schemeClr val="tx1"/>
            </a:solidFill>
          </a:ln>
          <a:effectLst>
            <a:outerShdw blurRad="50800" dist="38100" dir="2700000" algn="tl" rotWithShape="0">
              <a:srgbClr val="00B0F0">
                <a:alpha val="40000"/>
              </a:srgbClr>
            </a:outerShdw>
          </a:effectLst>
        </p:spPr>
        <p:style>
          <a:lnRef idx="1">
            <a:schemeClr val="accent1"/>
          </a:lnRef>
          <a:fillRef idx="2">
            <a:schemeClr val="accent1"/>
          </a:fillRef>
          <a:effectRef idx="1">
            <a:schemeClr val="accent1"/>
          </a:effectRef>
          <a:fontRef idx="minor">
            <a:schemeClr val="dk1"/>
          </a:fontRef>
        </p:style>
        <p:txBody>
          <a:bodyPr wrap="square" rtlCol="0">
            <a:spAutoFit/>
          </a:bodyPr>
          <a:lstStyle/>
          <a:p>
            <a:pPr indent="457200"/>
            <a:r>
              <a:rPr lang="en-US" b="1" dirty="0">
                <a:solidFill>
                  <a:schemeClr val="tx1"/>
                </a:solidFill>
                <a:latin typeface="Trebuchet MS" pitchFamily="34" charset="0"/>
              </a:rPr>
              <a:t>Literature Study          </a:t>
            </a:r>
          </a:p>
        </p:txBody>
      </p:sp>
      <p:sp>
        <p:nvSpPr>
          <p:cNvPr id="18" name="Rounded Rectangle 21">
            <a:extLst>
              <a:ext uri="{FF2B5EF4-FFF2-40B4-BE49-F238E27FC236}">
                <a16:creationId xmlns:a16="http://schemas.microsoft.com/office/drawing/2014/main" id="{D64E814A-6F27-7EEC-6B2A-F954D633B808}"/>
              </a:ext>
            </a:extLst>
          </p:cNvPr>
          <p:cNvSpPr/>
          <p:nvPr/>
        </p:nvSpPr>
        <p:spPr>
          <a:xfrm>
            <a:off x="2121431" y="1820541"/>
            <a:ext cx="389013" cy="367830"/>
          </a:xfrm>
          <a:prstGeom prst="roundRect">
            <a:avLst/>
          </a:prstGeom>
          <a:solidFill>
            <a:srgbClr val="0070C0"/>
          </a:solidFill>
          <a:ln/>
          <a:effectLst>
            <a:outerShdw blurRad="50800" dist="38100" dir="5400000" algn="t" rotWithShape="0">
              <a:prstClr val="black">
                <a:alpha val="40000"/>
              </a:prstClr>
            </a:outerShdw>
          </a:effectLst>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1500" dirty="0">
                <a:solidFill>
                  <a:schemeClr val="tx1"/>
                </a:solidFill>
                <a:latin typeface="Trebuchet MS" pitchFamily="34" charset="0"/>
              </a:rPr>
              <a:t>3</a:t>
            </a:r>
          </a:p>
        </p:txBody>
      </p:sp>
      <p:sp>
        <p:nvSpPr>
          <p:cNvPr id="21" name="TextBox 20">
            <a:extLst>
              <a:ext uri="{FF2B5EF4-FFF2-40B4-BE49-F238E27FC236}">
                <a16:creationId xmlns:a16="http://schemas.microsoft.com/office/drawing/2014/main" id="{048B82DD-F57A-FAA7-B146-1BA5BD59E642}"/>
              </a:ext>
            </a:extLst>
          </p:cNvPr>
          <p:cNvSpPr txBox="1"/>
          <p:nvPr/>
        </p:nvSpPr>
        <p:spPr>
          <a:xfrm>
            <a:off x="2108946" y="5822787"/>
            <a:ext cx="7330447" cy="369332"/>
          </a:xfrm>
          <a:prstGeom prst="rect">
            <a:avLst/>
          </a:prstGeom>
          <a:solidFill>
            <a:schemeClr val="bg1">
              <a:lumMod val="85000"/>
            </a:schemeClr>
          </a:solidFill>
          <a:ln w="6350">
            <a:solidFill>
              <a:schemeClr val="tx1"/>
            </a:solidFill>
          </a:ln>
          <a:effectLst>
            <a:outerShdw blurRad="50800" dist="38100" dir="2700000" algn="tl" rotWithShape="0">
              <a:srgbClr val="00B0F0">
                <a:alpha val="40000"/>
              </a:srgbClr>
            </a:outerShdw>
          </a:effectLst>
        </p:spPr>
        <p:style>
          <a:lnRef idx="1">
            <a:schemeClr val="accent1"/>
          </a:lnRef>
          <a:fillRef idx="2">
            <a:schemeClr val="accent1"/>
          </a:fillRef>
          <a:effectRef idx="1">
            <a:schemeClr val="accent1"/>
          </a:effectRef>
          <a:fontRef idx="minor">
            <a:schemeClr val="dk1"/>
          </a:fontRef>
        </p:style>
        <p:txBody>
          <a:bodyPr wrap="square" rtlCol="0">
            <a:spAutoFit/>
          </a:bodyPr>
          <a:lstStyle/>
          <a:p>
            <a:pPr indent="457200"/>
            <a:r>
              <a:rPr lang="en-US" b="1" dirty="0">
                <a:solidFill>
                  <a:schemeClr val="tx1"/>
                </a:solidFill>
                <a:latin typeface="Trebuchet MS" pitchFamily="34" charset="0"/>
              </a:rPr>
              <a:t>Future Scope           </a:t>
            </a:r>
          </a:p>
        </p:txBody>
      </p:sp>
      <p:sp>
        <p:nvSpPr>
          <p:cNvPr id="22" name="Rounded Rectangle 21">
            <a:extLst>
              <a:ext uri="{FF2B5EF4-FFF2-40B4-BE49-F238E27FC236}">
                <a16:creationId xmlns:a16="http://schemas.microsoft.com/office/drawing/2014/main" id="{5B68975D-2DE4-2E77-A1F1-9DBBEEC84F88}"/>
              </a:ext>
            </a:extLst>
          </p:cNvPr>
          <p:cNvSpPr/>
          <p:nvPr/>
        </p:nvSpPr>
        <p:spPr>
          <a:xfrm>
            <a:off x="2121400" y="5827628"/>
            <a:ext cx="389044" cy="364491"/>
          </a:xfrm>
          <a:prstGeom prst="roundRect">
            <a:avLst/>
          </a:prstGeom>
          <a:solidFill>
            <a:srgbClr val="0070C0"/>
          </a:solidFill>
          <a:ln/>
          <a:effectLst>
            <a:outerShdw blurRad="50800" dist="38100" dir="5400000" algn="t" rotWithShape="0">
              <a:prstClr val="black">
                <a:alpha val="40000"/>
              </a:prstClr>
            </a:outerShdw>
          </a:effectLst>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1200" dirty="0">
                <a:solidFill>
                  <a:schemeClr val="tx1"/>
                </a:solidFill>
                <a:latin typeface="Trebuchet MS" pitchFamily="34" charset="0"/>
              </a:rPr>
              <a:t>11</a:t>
            </a:r>
          </a:p>
        </p:txBody>
      </p:sp>
      <p:sp>
        <p:nvSpPr>
          <p:cNvPr id="23" name="TextBox 22">
            <a:extLst>
              <a:ext uri="{FF2B5EF4-FFF2-40B4-BE49-F238E27FC236}">
                <a16:creationId xmlns:a16="http://schemas.microsoft.com/office/drawing/2014/main" id="{8075356D-8DB6-0539-CF26-9B18215A6F75}"/>
              </a:ext>
            </a:extLst>
          </p:cNvPr>
          <p:cNvSpPr txBox="1"/>
          <p:nvPr/>
        </p:nvSpPr>
        <p:spPr>
          <a:xfrm>
            <a:off x="2108946" y="829293"/>
            <a:ext cx="7330447" cy="369332"/>
          </a:xfrm>
          <a:prstGeom prst="rect">
            <a:avLst/>
          </a:prstGeom>
          <a:solidFill>
            <a:schemeClr val="bg1">
              <a:lumMod val="85000"/>
            </a:schemeClr>
          </a:solidFill>
          <a:ln w="6350">
            <a:solidFill>
              <a:schemeClr val="tx1"/>
            </a:solidFill>
          </a:ln>
          <a:effectLst>
            <a:outerShdw blurRad="50800" dist="38100" dir="2700000" algn="tl" rotWithShape="0">
              <a:srgbClr val="00B0F0">
                <a:alpha val="40000"/>
              </a:srgbClr>
            </a:outerShdw>
          </a:effectLst>
        </p:spPr>
        <p:style>
          <a:lnRef idx="1">
            <a:schemeClr val="accent1"/>
          </a:lnRef>
          <a:fillRef idx="2">
            <a:schemeClr val="accent1"/>
          </a:fillRef>
          <a:effectRef idx="1">
            <a:schemeClr val="accent1"/>
          </a:effectRef>
          <a:fontRef idx="minor">
            <a:schemeClr val="dk1"/>
          </a:fontRef>
        </p:style>
        <p:txBody>
          <a:bodyPr wrap="square" rtlCol="0">
            <a:spAutoFit/>
          </a:bodyPr>
          <a:lstStyle/>
          <a:p>
            <a:pPr indent="457200"/>
            <a:r>
              <a:rPr lang="en-US" b="1" dirty="0">
                <a:solidFill>
                  <a:schemeClr val="tx1"/>
                </a:solidFill>
                <a:latin typeface="Trebuchet MS" pitchFamily="34" charset="0"/>
              </a:rPr>
              <a:t>Introduction           </a:t>
            </a:r>
          </a:p>
        </p:txBody>
      </p:sp>
      <p:sp>
        <p:nvSpPr>
          <p:cNvPr id="24" name="Rounded Rectangle 21">
            <a:extLst>
              <a:ext uri="{FF2B5EF4-FFF2-40B4-BE49-F238E27FC236}">
                <a16:creationId xmlns:a16="http://schemas.microsoft.com/office/drawing/2014/main" id="{86205BE4-98D2-63F3-5E53-75BC07435DFE}"/>
              </a:ext>
            </a:extLst>
          </p:cNvPr>
          <p:cNvSpPr/>
          <p:nvPr/>
        </p:nvSpPr>
        <p:spPr>
          <a:xfrm>
            <a:off x="2121431" y="829292"/>
            <a:ext cx="389013" cy="376055"/>
          </a:xfrm>
          <a:prstGeom prst="roundRect">
            <a:avLst/>
          </a:prstGeom>
          <a:solidFill>
            <a:srgbClr val="0070C0"/>
          </a:solidFill>
          <a:ln/>
          <a:effectLst>
            <a:outerShdw blurRad="50800" dist="38100" dir="5400000" algn="t" rotWithShape="0">
              <a:prstClr val="black">
                <a:alpha val="40000"/>
              </a:prstClr>
            </a:outerShdw>
          </a:effectLst>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1500" dirty="0">
                <a:solidFill>
                  <a:schemeClr val="tx1"/>
                </a:solidFill>
                <a:latin typeface="Trebuchet MS" pitchFamily="34" charset="0"/>
              </a:rPr>
              <a:t>1</a:t>
            </a:r>
          </a:p>
        </p:txBody>
      </p:sp>
      <p:sp>
        <p:nvSpPr>
          <p:cNvPr id="25" name="TextBox 24">
            <a:extLst>
              <a:ext uri="{FF2B5EF4-FFF2-40B4-BE49-F238E27FC236}">
                <a16:creationId xmlns:a16="http://schemas.microsoft.com/office/drawing/2014/main" id="{8B4F8FD9-625D-B73C-2119-EA3B1F2D6213}"/>
              </a:ext>
            </a:extLst>
          </p:cNvPr>
          <p:cNvSpPr txBox="1"/>
          <p:nvPr/>
        </p:nvSpPr>
        <p:spPr>
          <a:xfrm>
            <a:off x="2121432" y="4346854"/>
            <a:ext cx="7330447" cy="369332"/>
          </a:xfrm>
          <a:prstGeom prst="rect">
            <a:avLst/>
          </a:prstGeom>
          <a:solidFill>
            <a:schemeClr val="bg1">
              <a:lumMod val="85000"/>
            </a:schemeClr>
          </a:solidFill>
          <a:ln w="6350">
            <a:solidFill>
              <a:schemeClr val="tx1"/>
            </a:solidFill>
          </a:ln>
          <a:effectLst>
            <a:outerShdw blurRad="50800" dist="38100" dir="2700000" algn="tl" rotWithShape="0">
              <a:srgbClr val="00B0F0">
                <a:alpha val="40000"/>
              </a:srgbClr>
            </a:outerShdw>
          </a:effectLst>
        </p:spPr>
        <p:style>
          <a:lnRef idx="1">
            <a:schemeClr val="accent1"/>
          </a:lnRef>
          <a:fillRef idx="2">
            <a:schemeClr val="accent1"/>
          </a:fillRef>
          <a:effectRef idx="1">
            <a:schemeClr val="accent1"/>
          </a:effectRef>
          <a:fontRef idx="minor">
            <a:schemeClr val="dk1"/>
          </a:fontRef>
        </p:style>
        <p:txBody>
          <a:bodyPr wrap="square" rtlCol="0">
            <a:spAutoFit/>
          </a:bodyPr>
          <a:lstStyle/>
          <a:p>
            <a:pPr indent="457200"/>
            <a:r>
              <a:rPr lang="en-US" b="1" dirty="0">
                <a:solidFill>
                  <a:schemeClr val="tx1"/>
                </a:solidFill>
                <a:latin typeface="Trebuchet MS" pitchFamily="34" charset="0"/>
              </a:rPr>
              <a:t>Result           </a:t>
            </a:r>
          </a:p>
        </p:txBody>
      </p:sp>
      <p:sp>
        <p:nvSpPr>
          <p:cNvPr id="26" name="Rounded Rectangle 21">
            <a:extLst>
              <a:ext uri="{FF2B5EF4-FFF2-40B4-BE49-F238E27FC236}">
                <a16:creationId xmlns:a16="http://schemas.microsoft.com/office/drawing/2014/main" id="{798F2C3E-C71A-A75F-B608-5A8290A8694F}"/>
              </a:ext>
            </a:extLst>
          </p:cNvPr>
          <p:cNvSpPr/>
          <p:nvPr/>
        </p:nvSpPr>
        <p:spPr>
          <a:xfrm>
            <a:off x="2121431" y="4352136"/>
            <a:ext cx="389013" cy="364050"/>
          </a:xfrm>
          <a:prstGeom prst="roundRect">
            <a:avLst/>
          </a:prstGeom>
          <a:solidFill>
            <a:srgbClr val="0070C0"/>
          </a:solidFill>
          <a:ln/>
          <a:effectLst>
            <a:outerShdw blurRad="50800" dist="38100" dir="5400000" algn="t" rotWithShape="0">
              <a:prstClr val="black">
                <a:alpha val="40000"/>
              </a:prstClr>
            </a:outerShdw>
          </a:effectLst>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1500" dirty="0">
                <a:solidFill>
                  <a:schemeClr val="tx1"/>
                </a:solidFill>
                <a:latin typeface="Trebuchet MS" pitchFamily="34" charset="0"/>
              </a:rPr>
              <a:t>8</a:t>
            </a:r>
          </a:p>
        </p:txBody>
      </p:sp>
      <p:sp>
        <p:nvSpPr>
          <p:cNvPr id="27" name="TextBox 26">
            <a:extLst>
              <a:ext uri="{FF2B5EF4-FFF2-40B4-BE49-F238E27FC236}">
                <a16:creationId xmlns:a16="http://schemas.microsoft.com/office/drawing/2014/main" id="{B048302F-D2BF-0522-2798-E29F70292796}"/>
              </a:ext>
            </a:extLst>
          </p:cNvPr>
          <p:cNvSpPr txBox="1"/>
          <p:nvPr/>
        </p:nvSpPr>
        <p:spPr>
          <a:xfrm>
            <a:off x="2121431" y="6333094"/>
            <a:ext cx="7330447" cy="369332"/>
          </a:xfrm>
          <a:prstGeom prst="rect">
            <a:avLst/>
          </a:prstGeom>
          <a:solidFill>
            <a:schemeClr val="bg1">
              <a:lumMod val="85000"/>
            </a:schemeClr>
          </a:solidFill>
          <a:ln w="6350">
            <a:solidFill>
              <a:schemeClr val="tx1"/>
            </a:solidFill>
          </a:ln>
          <a:effectLst>
            <a:outerShdw blurRad="50800" dist="38100" dir="2700000" algn="tl" rotWithShape="0">
              <a:srgbClr val="00B0F0">
                <a:alpha val="40000"/>
              </a:srgbClr>
            </a:outerShdw>
          </a:effectLst>
        </p:spPr>
        <p:style>
          <a:lnRef idx="1">
            <a:schemeClr val="accent1"/>
          </a:lnRef>
          <a:fillRef idx="2">
            <a:schemeClr val="accent1"/>
          </a:fillRef>
          <a:effectRef idx="1">
            <a:schemeClr val="accent1"/>
          </a:effectRef>
          <a:fontRef idx="minor">
            <a:schemeClr val="dk1"/>
          </a:fontRef>
        </p:style>
        <p:txBody>
          <a:bodyPr wrap="square" rtlCol="0">
            <a:spAutoFit/>
          </a:bodyPr>
          <a:lstStyle/>
          <a:p>
            <a:pPr indent="457200"/>
            <a:r>
              <a:rPr lang="en-US" b="1" dirty="0">
                <a:solidFill>
                  <a:schemeClr val="tx1"/>
                </a:solidFill>
                <a:latin typeface="Trebuchet MS" pitchFamily="34" charset="0"/>
              </a:rPr>
              <a:t>References           </a:t>
            </a:r>
          </a:p>
        </p:txBody>
      </p:sp>
      <p:sp>
        <p:nvSpPr>
          <p:cNvPr id="28" name="Rounded Rectangle 21">
            <a:extLst>
              <a:ext uri="{FF2B5EF4-FFF2-40B4-BE49-F238E27FC236}">
                <a16:creationId xmlns:a16="http://schemas.microsoft.com/office/drawing/2014/main" id="{547984DE-D974-336C-3B1C-1872227B54DD}"/>
              </a:ext>
            </a:extLst>
          </p:cNvPr>
          <p:cNvSpPr/>
          <p:nvPr/>
        </p:nvSpPr>
        <p:spPr>
          <a:xfrm>
            <a:off x="2121400" y="6338708"/>
            <a:ext cx="389043" cy="363718"/>
          </a:xfrm>
          <a:prstGeom prst="roundRect">
            <a:avLst/>
          </a:prstGeom>
          <a:solidFill>
            <a:srgbClr val="0070C0"/>
          </a:solidFill>
          <a:ln/>
          <a:effectLst>
            <a:outerShdw blurRad="50800" dist="38100" dir="5400000" algn="t" rotWithShape="0">
              <a:prstClr val="black">
                <a:alpha val="40000"/>
              </a:prstClr>
            </a:outerShdw>
          </a:effectLst>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1200" dirty="0">
                <a:solidFill>
                  <a:schemeClr val="tx1"/>
                </a:solidFill>
                <a:latin typeface="Trebuchet MS" pitchFamily="34" charset="0"/>
              </a:rPr>
              <a:t>12</a:t>
            </a:r>
          </a:p>
        </p:txBody>
      </p:sp>
    </p:spTree>
    <p:extLst>
      <p:ext uri="{BB962C8B-B14F-4D97-AF65-F5344CB8AC3E}">
        <p14:creationId xmlns:p14="http://schemas.microsoft.com/office/powerpoint/2010/main" val="26790658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34603-0322-8175-6F1F-9F9A60EB45B6}"/>
              </a:ext>
            </a:extLst>
          </p:cNvPr>
          <p:cNvSpPr>
            <a:spLocks noGrp="1"/>
          </p:cNvSpPr>
          <p:nvPr>
            <p:ph type="title"/>
          </p:nvPr>
        </p:nvSpPr>
        <p:spPr/>
        <p:txBody>
          <a:bodyPr/>
          <a:lstStyle/>
          <a:p>
            <a:r>
              <a:rPr lang="en-US" dirty="0"/>
              <a:t>Introduction</a:t>
            </a:r>
            <a:endParaRPr lang="en-IN" dirty="0"/>
          </a:p>
        </p:txBody>
      </p:sp>
      <p:sp>
        <p:nvSpPr>
          <p:cNvPr id="3" name="Content Placeholder 2">
            <a:extLst>
              <a:ext uri="{FF2B5EF4-FFF2-40B4-BE49-F238E27FC236}">
                <a16:creationId xmlns:a16="http://schemas.microsoft.com/office/drawing/2014/main" id="{53825124-3928-4F18-4E31-756FD3496FD9}"/>
              </a:ext>
            </a:extLst>
          </p:cNvPr>
          <p:cNvSpPr>
            <a:spLocks noGrp="1"/>
          </p:cNvSpPr>
          <p:nvPr>
            <p:ph idx="1"/>
          </p:nvPr>
        </p:nvSpPr>
        <p:spPr/>
        <p:txBody>
          <a:bodyPr>
            <a:normAutofit lnSpcReduction="10000"/>
          </a:bodyPr>
          <a:lstStyle/>
          <a:p>
            <a:pPr algn="just"/>
            <a:r>
              <a:rPr lang="en-US" cap="none" dirty="0"/>
              <a:t>As technology is marking the highest peak in this modern world, all things are being automated using machine learning and deep learning. By using machine learning models, we can detect the movements, action, multiple faces, their recognition and many more in just A second of time. </a:t>
            </a:r>
          </a:p>
          <a:p>
            <a:pPr algn="just"/>
            <a:r>
              <a:rPr lang="en-US" cap="none" dirty="0"/>
              <a:t>The title “Motion Detection and Multiple Faces Identification using Webcam” tells us much more about this system. The “Motion Detection” were the actions made by an object is going to be observed. And the “Multiple Faces Identification” were detection and recognition of multiple faces is done at same time. Both model use webcam / security camera for detecting motion and multiple faces in single video frame, and A database is used to recognize multiple faces and storing of newly detected face. </a:t>
            </a:r>
          </a:p>
          <a:p>
            <a:pPr algn="just"/>
            <a:endParaRPr lang="en-US" cap="none" dirty="0"/>
          </a:p>
          <a:p>
            <a:pPr algn="just"/>
            <a:endParaRPr lang="en-IN" cap="none" dirty="0"/>
          </a:p>
        </p:txBody>
      </p:sp>
    </p:spTree>
    <p:extLst>
      <p:ext uri="{BB962C8B-B14F-4D97-AF65-F5344CB8AC3E}">
        <p14:creationId xmlns:p14="http://schemas.microsoft.com/office/powerpoint/2010/main" val="2719454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D0362-F26D-CC85-D598-B3871662D7F4}"/>
              </a:ext>
            </a:extLst>
          </p:cNvPr>
          <p:cNvSpPr>
            <a:spLocks noGrp="1"/>
          </p:cNvSpPr>
          <p:nvPr>
            <p:ph type="title"/>
          </p:nvPr>
        </p:nvSpPr>
        <p:spPr/>
        <p:txBody>
          <a:bodyPr/>
          <a:lstStyle/>
          <a:p>
            <a:r>
              <a:rPr lang="en-US" dirty="0"/>
              <a:t>motivation</a:t>
            </a:r>
            <a:endParaRPr lang="en-IN" dirty="0"/>
          </a:p>
        </p:txBody>
      </p:sp>
      <p:sp>
        <p:nvSpPr>
          <p:cNvPr id="3" name="Content Placeholder 2">
            <a:extLst>
              <a:ext uri="{FF2B5EF4-FFF2-40B4-BE49-F238E27FC236}">
                <a16:creationId xmlns:a16="http://schemas.microsoft.com/office/drawing/2014/main" id="{0F900403-378B-8B7C-548D-ED77C8F11640}"/>
              </a:ext>
            </a:extLst>
          </p:cNvPr>
          <p:cNvSpPr>
            <a:spLocks noGrp="1"/>
          </p:cNvSpPr>
          <p:nvPr>
            <p:ph idx="1"/>
          </p:nvPr>
        </p:nvSpPr>
        <p:spPr>
          <a:xfrm>
            <a:off x="896076" y="1552446"/>
            <a:ext cx="10309480" cy="4948107"/>
          </a:xfrm>
        </p:spPr>
        <p:txBody>
          <a:bodyPr>
            <a:normAutofit fontScale="92500" lnSpcReduction="10000"/>
          </a:bodyPr>
          <a:lstStyle/>
          <a:p>
            <a:pPr algn="just"/>
            <a:r>
              <a:rPr lang="en-US" cap="none" dirty="0">
                <a:latin typeface="Times New Roman" panose="02020603050405020304" pitchFamily="18" charset="0"/>
                <a:cs typeface="Times New Roman" panose="02020603050405020304" pitchFamily="18" charset="0"/>
              </a:rPr>
              <a:t>Motion detection and multiple faces identification technologies offer numerous benefits, ranging from enhanced security and efficiency to personalized experiences and improved safety in various domains. By harnessing their potential, we can create smarter, safer, and more engaging environments like:</a:t>
            </a:r>
          </a:p>
          <a:p>
            <a:pPr algn="just"/>
            <a:r>
              <a:rPr lang="en-US" b="1" cap="none" dirty="0">
                <a:latin typeface="Times New Roman" panose="02020603050405020304" pitchFamily="18" charset="0"/>
                <a:cs typeface="Times New Roman" panose="02020603050405020304" pitchFamily="18" charset="0"/>
              </a:rPr>
              <a:t>Enhanced Security</a:t>
            </a:r>
            <a:r>
              <a:rPr lang="en-US" cap="none" dirty="0">
                <a:latin typeface="Times New Roman" panose="02020603050405020304" pitchFamily="18" charset="0"/>
                <a:cs typeface="Times New Roman" panose="02020603050405020304" pitchFamily="18" charset="0"/>
              </a:rPr>
              <a:t>: Motion detection and multiple faces identification technologies contribute significantly to enhancing security systems. By accurately detecting motion and identifying multiple faces, these technologies can help prevent unauthorized access, intrusions, and potential threats.</a:t>
            </a:r>
          </a:p>
          <a:p>
            <a:pPr algn="just"/>
            <a:r>
              <a:rPr lang="en-US" b="1" cap="none" dirty="0">
                <a:latin typeface="Times New Roman" panose="02020603050405020304" pitchFamily="18" charset="0"/>
                <a:cs typeface="Times New Roman" panose="02020603050405020304" pitchFamily="18" charset="0"/>
              </a:rPr>
              <a:t>Crime Prevention</a:t>
            </a:r>
            <a:r>
              <a:rPr lang="en-US" cap="none" dirty="0">
                <a:latin typeface="Times New Roman" panose="02020603050405020304" pitchFamily="18" charset="0"/>
                <a:cs typeface="Times New Roman" panose="02020603050405020304" pitchFamily="18" charset="0"/>
              </a:rPr>
              <a:t>: The implementation of motion detection and multiple faces identification can deter criminal activities. With advanced systems in place, potential criminals are more likely to be identified and caught, reducing the overall crime rate.</a:t>
            </a:r>
          </a:p>
          <a:p>
            <a:pPr algn="just"/>
            <a:r>
              <a:rPr lang="en-US" b="1" cap="none" dirty="0">
                <a:latin typeface="Times New Roman" panose="02020603050405020304" pitchFamily="18" charset="0"/>
                <a:cs typeface="Times New Roman" panose="02020603050405020304" pitchFamily="18" charset="0"/>
              </a:rPr>
              <a:t>Efficient Surveillance</a:t>
            </a:r>
            <a:r>
              <a:rPr lang="en-US" cap="none" dirty="0">
                <a:latin typeface="Times New Roman" panose="02020603050405020304" pitchFamily="18" charset="0"/>
                <a:cs typeface="Times New Roman" panose="02020603050405020304" pitchFamily="18" charset="0"/>
              </a:rPr>
              <a:t>: Motion detection allows surveillance systems to focus on relevant areas only when there is activity, minimizing unnecessary recordings and saving storage space. Combined with multiple faces identification, these technologies enable efficient monitoring of public spaces, ensuring public safety and quick response to any incidents.</a:t>
            </a:r>
          </a:p>
          <a:p>
            <a:pPr algn="just"/>
            <a:endParaRPr lang="en-IN" cap="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65406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B25A6-A1DF-935E-8EB7-5A0BE661E363}"/>
              </a:ext>
            </a:extLst>
          </p:cNvPr>
          <p:cNvSpPr>
            <a:spLocks noGrp="1"/>
          </p:cNvSpPr>
          <p:nvPr>
            <p:ph type="title"/>
          </p:nvPr>
        </p:nvSpPr>
        <p:spPr/>
        <p:txBody>
          <a:bodyPr/>
          <a:lstStyle/>
          <a:p>
            <a:r>
              <a:rPr lang="en-US" dirty="0"/>
              <a:t>Literature survey</a:t>
            </a:r>
            <a:endParaRPr lang="en-IN" dirty="0"/>
          </a:p>
        </p:txBody>
      </p:sp>
      <p:graphicFrame>
        <p:nvGraphicFramePr>
          <p:cNvPr id="4" name="Table 2">
            <a:extLst>
              <a:ext uri="{FF2B5EF4-FFF2-40B4-BE49-F238E27FC236}">
                <a16:creationId xmlns:a16="http://schemas.microsoft.com/office/drawing/2014/main" id="{9A3A6E12-1E92-A9CC-D717-601053C631C7}"/>
              </a:ext>
            </a:extLst>
          </p:cNvPr>
          <p:cNvGraphicFramePr>
            <a:graphicFrameLocks noGrp="1"/>
          </p:cNvGraphicFramePr>
          <p:nvPr>
            <p:extLst>
              <p:ext uri="{D42A27DB-BD31-4B8C-83A1-F6EECF244321}">
                <p14:modId xmlns:p14="http://schemas.microsoft.com/office/powerpoint/2010/main" val="3250075822"/>
              </p:ext>
            </p:extLst>
          </p:nvPr>
        </p:nvGraphicFramePr>
        <p:xfrm>
          <a:off x="376874" y="1762298"/>
          <a:ext cx="11438251" cy="4523337"/>
        </p:xfrm>
        <a:graphic>
          <a:graphicData uri="http://schemas.openxmlformats.org/drawingml/2006/table">
            <a:tbl>
              <a:tblPr firstRow="1" bandRow="1">
                <a:tableStyleId>{5C22544A-7EE6-4342-B048-85BDC9FD1C3A}</a:tableStyleId>
              </a:tblPr>
              <a:tblGrid>
                <a:gridCol w="500945">
                  <a:extLst>
                    <a:ext uri="{9D8B030D-6E8A-4147-A177-3AD203B41FA5}">
                      <a16:colId xmlns:a16="http://schemas.microsoft.com/office/drawing/2014/main" val="2369369336"/>
                    </a:ext>
                  </a:extLst>
                </a:gridCol>
                <a:gridCol w="2003781">
                  <a:extLst>
                    <a:ext uri="{9D8B030D-6E8A-4147-A177-3AD203B41FA5}">
                      <a16:colId xmlns:a16="http://schemas.microsoft.com/office/drawing/2014/main" val="2705987301"/>
                    </a:ext>
                  </a:extLst>
                </a:gridCol>
                <a:gridCol w="2003781">
                  <a:extLst>
                    <a:ext uri="{9D8B030D-6E8A-4147-A177-3AD203B41FA5}">
                      <a16:colId xmlns:a16="http://schemas.microsoft.com/office/drawing/2014/main" val="1399240454"/>
                    </a:ext>
                  </a:extLst>
                </a:gridCol>
                <a:gridCol w="2087271">
                  <a:extLst>
                    <a:ext uri="{9D8B030D-6E8A-4147-A177-3AD203B41FA5}">
                      <a16:colId xmlns:a16="http://schemas.microsoft.com/office/drawing/2014/main" val="2836870671"/>
                    </a:ext>
                  </a:extLst>
                </a:gridCol>
                <a:gridCol w="834909">
                  <a:extLst>
                    <a:ext uri="{9D8B030D-6E8A-4147-A177-3AD203B41FA5}">
                      <a16:colId xmlns:a16="http://schemas.microsoft.com/office/drawing/2014/main" val="2605013509"/>
                    </a:ext>
                  </a:extLst>
                </a:gridCol>
                <a:gridCol w="4007564">
                  <a:extLst>
                    <a:ext uri="{9D8B030D-6E8A-4147-A177-3AD203B41FA5}">
                      <a16:colId xmlns:a16="http://schemas.microsoft.com/office/drawing/2014/main" val="99203341"/>
                    </a:ext>
                  </a:extLst>
                </a:gridCol>
              </a:tblGrid>
              <a:tr h="456332">
                <a:tc>
                  <a:txBody>
                    <a:bodyPr/>
                    <a:lstStyle/>
                    <a:p>
                      <a:pPr algn="ctr"/>
                      <a:r>
                        <a:rPr lang="en-IN" sz="1200" dirty="0">
                          <a:latin typeface="+mn-lt"/>
                          <a:cs typeface="Times New Roman" panose="02020603050405020304" pitchFamily="18" charset="0"/>
                        </a:rPr>
                        <a:t>Sr. </a:t>
                      </a:r>
                    </a:p>
                    <a:p>
                      <a:pPr algn="ctr"/>
                      <a:r>
                        <a:rPr lang="en-IN" sz="1200" dirty="0">
                          <a:latin typeface="+mn-lt"/>
                          <a:cs typeface="Times New Roman" panose="02020603050405020304" pitchFamily="18" charset="0"/>
                        </a:rPr>
                        <a:t>No</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IN" sz="1200" dirty="0">
                          <a:latin typeface="+mn-lt"/>
                          <a:cs typeface="Times New Roman" panose="02020603050405020304" pitchFamily="18" charset="0"/>
                        </a:rPr>
                        <a:t>Publication</a:t>
                      </a:r>
                    </a:p>
                  </a:txBody>
                  <a:tcPr/>
                </a:tc>
                <a:tc>
                  <a:txBody>
                    <a:bodyPr/>
                    <a:lstStyle/>
                    <a:p>
                      <a:pPr algn="ctr"/>
                      <a:r>
                        <a:rPr lang="en-IN" sz="1200" dirty="0">
                          <a:latin typeface="+mn-lt"/>
                          <a:cs typeface="Times New Roman" panose="02020603050405020304" pitchFamily="18" charset="0"/>
                        </a:rPr>
                        <a:t>Author</a:t>
                      </a:r>
                    </a:p>
                    <a:p>
                      <a:pPr algn="ctr"/>
                      <a:r>
                        <a:rPr lang="en-IN" sz="1200" dirty="0">
                          <a:latin typeface="+mn-lt"/>
                          <a:cs typeface="Times New Roman" panose="02020603050405020304" pitchFamily="18" charset="0"/>
                        </a:rPr>
                        <a:t>Name</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IN" sz="1200" dirty="0">
                          <a:latin typeface="+mn-lt"/>
                          <a:cs typeface="Times New Roman" panose="02020603050405020304" pitchFamily="18" charset="0"/>
                        </a:rPr>
                        <a:t>Paper Name</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200" dirty="0">
                          <a:latin typeface="+mn-lt"/>
                          <a:cs typeface="Times New Roman" panose="02020603050405020304" pitchFamily="18" charset="0"/>
                        </a:rPr>
                        <a:t>Year</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IN" sz="1200" dirty="0">
                          <a:latin typeface="+mn-lt"/>
                          <a:cs typeface="Times New Roman" panose="02020603050405020304" pitchFamily="18" charset="0"/>
                        </a:rPr>
                        <a:t>Discretion</a:t>
                      </a:r>
                      <a:r>
                        <a:rPr lang="en-IN" sz="1200" baseline="0" dirty="0">
                          <a:latin typeface="+mn-lt"/>
                          <a:cs typeface="Times New Roman" panose="02020603050405020304" pitchFamily="18" charset="0"/>
                        </a:rPr>
                        <a:t> </a:t>
                      </a:r>
                      <a:endParaRPr lang="en-IN" sz="1200" dirty="0">
                        <a:latin typeface="+mn-lt"/>
                        <a:cs typeface="Times New Roman" panose="02020603050405020304" pitchFamily="18" charset="0"/>
                      </a:endParaRPr>
                    </a:p>
                  </a:txBody>
                  <a:tcPr/>
                </a:tc>
                <a:extLst>
                  <a:ext uri="{0D108BD9-81ED-4DB2-BD59-A6C34878D82A}">
                    <a16:rowId xmlns:a16="http://schemas.microsoft.com/office/drawing/2014/main" val="3980491130"/>
                  </a:ext>
                </a:extLst>
              </a:tr>
              <a:tr h="1043840">
                <a:tc>
                  <a:txBody>
                    <a:bodyPr/>
                    <a:lstStyle/>
                    <a:p>
                      <a:r>
                        <a:rPr lang="en-IN" sz="1200" dirty="0">
                          <a:latin typeface="+mn-lt"/>
                        </a:rPr>
                        <a:t>1</a:t>
                      </a:r>
                      <a:r>
                        <a:rPr lang="en-IN" sz="1200">
                          <a:latin typeface="+mn-lt"/>
                        </a:rPr>
                        <a:t>.</a:t>
                      </a:r>
                      <a:endParaRPr lang="en-IN" sz="1200" dirty="0">
                        <a:latin typeface="+mn-lt"/>
                      </a:endParaRPr>
                    </a:p>
                  </a:txBody>
                  <a:tcPr/>
                </a:tc>
                <a:tc>
                  <a:txBody>
                    <a:bodyPr/>
                    <a:lstStyle/>
                    <a:p>
                      <a:r>
                        <a:rPr lang="en-US" sz="1200" dirty="0">
                          <a:latin typeface="+mn-lt"/>
                        </a:rPr>
                        <a:t>International Journal of Scientific Research in Science, Engineering and Technology(IJSRSET)</a:t>
                      </a:r>
                      <a:endParaRPr lang="en-IN" sz="1200" dirty="0">
                        <a:latin typeface="+mn-lt"/>
                      </a:endParaRPr>
                    </a:p>
                  </a:txBody>
                  <a:tcPr/>
                </a:tc>
                <a:tc>
                  <a:txBody>
                    <a:bodyPr/>
                    <a:lstStyle/>
                    <a:p>
                      <a:r>
                        <a:rPr lang="en-IN" sz="1200" dirty="0">
                          <a:latin typeface="+mn-lt"/>
                        </a:rPr>
                        <a:t>Shubham Mishra, Mrs Versha Verma, </a:t>
                      </a:r>
                      <a:r>
                        <a:rPr lang="en-IN" sz="1200" dirty="0" err="1">
                          <a:latin typeface="+mn-lt"/>
                        </a:rPr>
                        <a:t>Dr.</a:t>
                      </a:r>
                      <a:r>
                        <a:rPr lang="en-IN" sz="1200" dirty="0">
                          <a:latin typeface="+mn-lt"/>
                        </a:rPr>
                        <a:t> Nikhat Akhtar, </a:t>
                      </a:r>
                      <a:r>
                        <a:rPr lang="en-IN" sz="1200" dirty="0" err="1">
                          <a:latin typeface="+mn-lt"/>
                        </a:rPr>
                        <a:t>Shivam</a:t>
                      </a:r>
                      <a:r>
                        <a:rPr lang="en-IN" sz="1200" dirty="0">
                          <a:latin typeface="+mn-lt"/>
                        </a:rPr>
                        <a:t> Chaturvedi, </a:t>
                      </a:r>
                      <a:r>
                        <a:rPr lang="en-IN" sz="1200" dirty="0" err="1">
                          <a:latin typeface="+mn-lt"/>
                        </a:rPr>
                        <a:t>Dr.</a:t>
                      </a:r>
                      <a:r>
                        <a:rPr lang="en-IN" sz="1200" dirty="0">
                          <a:latin typeface="+mn-lt"/>
                        </a:rPr>
                        <a:t> Yusuf </a:t>
                      </a:r>
                      <a:r>
                        <a:rPr lang="en-IN" sz="1200" dirty="0" err="1">
                          <a:latin typeface="+mn-lt"/>
                        </a:rPr>
                        <a:t>Perwej</a:t>
                      </a:r>
                      <a:r>
                        <a:rPr lang="en-IN" sz="1200" dirty="0">
                          <a:latin typeface="+mn-lt"/>
                        </a:rPr>
                        <a:t>,</a:t>
                      </a:r>
                    </a:p>
                  </a:txBody>
                  <a:tcPr/>
                </a:tc>
                <a:tc>
                  <a:txBody>
                    <a:bodyPr/>
                    <a:lstStyle/>
                    <a:p>
                      <a:r>
                        <a:rPr lang="en-US" sz="1200" dirty="0">
                          <a:latin typeface="+mn-lt"/>
                        </a:rPr>
                        <a:t>An Intelligent Motion Detection Using OpenCV</a:t>
                      </a:r>
                      <a:endParaRPr lang="en-IN" sz="1200" dirty="0">
                        <a:latin typeface="+mn-lt"/>
                      </a:endParaRPr>
                    </a:p>
                  </a:txBody>
                  <a:tcPr/>
                </a:tc>
                <a:tc>
                  <a:txBody>
                    <a:bodyPr/>
                    <a:lstStyle/>
                    <a:p>
                      <a:r>
                        <a:rPr lang="en-IN" sz="1200" dirty="0">
                          <a:latin typeface="+mn-lt"/>
                        </a:rPr>
                        <a:t>2022</a:t>
                      </a:r>
                    </a:p>
                  </a:txBody>
                  <a:tcPr/>
                </a:tc>
                <a:tc>
                  <a:txBody>
                    <a:bodyPr/>
                    <a:lstStyle/>
                    <a:p>
                      <a:pPr algn="just"/>
                      <a:r>
                        <a:rPr lang="en-US" sz="1200" dirty="0">
                          <a:latin typeface="+mn-lt"/>
                        </a:rPr>
                        <a:t>A computer vision system's basic goal is to detect moving things. For many applications, the performance of these systems is insufficient. One of the key reasons is that dealing with numerous restrictions such as environmental fluctuations makes the moving object detection process harder. </a:t>
                      </a:r>
                      <a:endParaRPr lang="en-IN" sz="1200" dirty="0">
                        <a:latin typeface="+mn-lt"/>
                      </a:endParaRPr>
                    </a:p>
                  </a:txBody>
                  <a:tcPr/>
                </a:tc>
                <a:extLst>
                  <a:ext uri="{0D108BD9-81ED-4DB2-BD59-A6C34878D82A}">
                    <a16:rowId xmlns:a16="http://schemas.microsoft.com/office/drawing/2014/main" val="3377548661"/>
                  </a:ext>
                </a:extLst>
              </a:tr>
              <a:tr h="1043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effectLst/>
                          <a:latin typeface="+mn-lt"/>
                          <a:ea typeface="Calibri" panose="020F0502020204030204" pitchFamily="34" charset="0"/>
                          <a:cs typeface="Times New Roman" panose="02020603050405020304" pitchFamily="18" charset="0"/>
                        </a:rPr>
                        <a:t>2.</a:t>
                      </a:r>
                      <a:endParaRPr lang="en-IN" sz="1200" b="0" dirty="0">
                        <a:effectLst/>
                        <a:latin typeface="+mn-lt"/>
                        <a:ea typeface="Calibri" panose="020F0502020204030204" pitchFamily="34" charset="0"/>
                        <a:cs typeface="Times New Roman" pitchFamily="18" charset="0"/>
                      </a:endParaRPr>
                    </a:p>
                  </a:txBody>
                  <a:tcPr/>
                </a:tc>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US" sz="1200" kern="1200" dirty="0">
                          <a:solidFill>
                            <a:schemeClr val="dk1"/>
                          </a:solidFill>
                          <a:effectLst/>
                          <a:latin typeface="+mn-lt"/>
                          <a:ea typeface="+mn-ea"/>
                          <a:cs typeface="Times New Roman" panose="02020603050405020304" pitchFamily="18" charset="0"/>
                        </a:rPr>
                        <a:t>Institute of Electrical and Electronic Engineers(IEEE)</a:t>
                      </a:r>
                      <a:endParaRPr lang="en-US" sz="1200" b="0" dirty="0">
                        <a:latin typeface="+mn-lt"/>
                        <a:cs typeface="Times New Roman" panose="02020603050405020304" pitchFamily="18"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latin typeface="+mn-lt"/>
                          <a:cs typeface="Times New Roman" panose="02020603050405020304" pitchFamily="18" charset="0"/>
                        </a:rPr>
                        <a:t>Maliha Khan, </a:t>
                      </a:r>
                      <a:r>
                        <a:rPr lang="en-US" sz="1200" dirty="0" err="1">
                          <a:latin typeface="+mn-lt"/>
                          <a:cs typeface="Times New Roman" panose="02020603050405020304" pitchFamily="18" charset="0"/>
                        </a:rPr>
                        <a:t>Sudeshna</a:t>
                      </a:r>
                      <a:r>
                        <a:rPr lang="en-US" sz="1200" dirty="0">
                          <a:latin typeface="+mn-lt"/>
                          <a:cs typeface="Times New Roman" panose="02020603050405020304" pitchFamily="18" charset="0"/>
                        </a:rPr>
                        <a:t> Chakraborty, Rani </a:t>
                      </a:r>
                      <a:r>
                        <a:rPr lang="en-US" sz="1200" dirty="0" err="1">
                          <a:latin typeface="+mn-lt"/>
                          <a:cs typeface="Times New Roman" panose="02020603050405020304" pitchFamily="18" charset="0"/>
                        </a:rPr>
                        <a:t>Astya</a:t>
                      </a:r>
                      <a:r>
                        <a:rPr lang="en-US" sz="1200" dirty="0">
                          <a:latin typeface="+mn-lt"/>
                          <a:cs typeface="Times New Roman" panose="02020603050405020304" pitchFamily="18" charset="0"/>
                        </a:rPr>
                        <a:t>, </a:t>
                      </a:r>
                      <a:r>
                        <a:rPr lang="en-US" sz="1200" dirty="0" err="1">
                          <a:latin typeface="+mn-lt"/>
                          <a:cs typeface="Times New Roman" panose="02020603050405020304" pitchFamily="18" charset="0"/>
                        </a:rPr>
                        <a:t>Shaveta</a:t>
                      </a:r>
                      <a:r>
                        <a:rPr lang="en-US" sz="1200" dirty="0">
                          <a:latin typeface="+mn-lt"/>
                          <a:cs typeface="Times New Roman" panose="02020603050405020304" pitchFamily="18" charset="0"/>
                        </a:rPr>
                        <a:t> </a:t>
                      </a:r>
                      <a:r>
                        <a:rPr lang="en-US" sz="1200" dirty="0" err="1">
                          <a:latin typeface="+mn-lt"/>
                          <a:cs typeface="Times New Roman" panose="02020603050405020304" pitchFamily="18" charset="0"/>
                        </a:rPr>
                        <a:t>Khepra</a:t>
                      </a:r>
                      <a:endParaRPr lang="en-US" sz="1200" dirty="0">
                        <a:latin typeface="+mn-lt"/>
                        <a:cs typeface="Times New Roman" panose="02020603050405020304" pitchFamily="18"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latin typeface="+mn-lt"/>
                          <a:cs typeface="Times New Roman" panose="02020603050405020304" pitchFamily="18" charset="0"/>
                        </a:rPr>
                        <a:t>Face Detection and recognition using </a:t>
                      </a:r>
                      <a:r>
                        <a:rPr lang="en-US" sz="1200" dirty="0" err="1">
                          <a:latin typeface="+mn-lt"/>
                          <a:cs typeface="Times New Roman" panose="02020603050405020304" pitchFamily="18" charset="0"/>
                        </a:rPr>
                        <a:t>opencv</a:t>
                      </a:r>
                      <a:r>
                        <a:rPr lang="en-US" sz="1200" dirty="0">
                          <a:latin typeface="+mn-lt"/>
                          <a:cs typeface="Times New Roman" panose="02020603050405020304" pitchFamily="18" charset="0"/>
                        </a:rPr>
                        <a:t> </a:t>
                      </a:r>
                    </a:p>
                  </a:txBody>
                  <a:tcPr/>
                </a:tc>
                <a:tc>
                  <a:txBody>
                    <a:bodyPr/>
                    <a:lstStyle/>
                    <a:p>
                      <a:pPr>
                        <a:lnSpc>
                          <a:spcPct val="107000"/>
                        </a:lnSpc>
                        <a:spcAft>
                          <a:spcPts val="800"/>
                        </a:spcAft>
                      </a:pPr>
                      <a:r>
                        <a:rPr lang="en-IN" sz="1200" b="0" dirty="0">
                          <a:effectLst/>
                          <a:latin typeface="+mn-lt"/>
                          <a:ea typeface="Calibri" panose="020F0502020204030204" pitchFamily="34" charset="0"/>
                          <a:cs typeface="Times New Roman" pitchFamily="18" charset="0"/>
                        </a:rPr>
                        <a:t>2019</a:t>
                      </a:r>
                    </a:p>
                  </a:txBody>
                  <a:tcPr/>
                </a:tc>
                <a:tc>
                  <a:txBody>
                    <a:bodyPr/>
                    <a:lstStyle/>
                    <a:p>
                      <a:pPr algn="just">
                        <a:lnSpc>
                          <a:spcPct val="107000"/>
                        </a:lnSpc>
                        <a:spcAft>
                          <a:spcPts val="0"/>
                        </a:spcAft>
                      </a:pPr>
                      <a:r>
                        <a:rPr lang="en-US" sz="1200" dirty="0">
                          <a:latin typeface="+mn-lt"/>
                          <a:cs typeface="Times New Roman" panose="02020603050405020304" pitchFamily="18" charset="0"/>
                        </a:rPr>
                        <a:t>Face detection and picture or video recognition is a popular subject of research on biometrics. Face recognition in a real-time setting has an exciting area and a rapidly growing challenge. Framework for the use of face recognition application authentication. This proposes the PCA (Principal Component Analysis) facial recognition system. </a:t>
                      </a:r>
                    </a:p>
                  </a:txBody>
                  <a:tcPr/>
                </a:tc>
                <a:extLst>
                  <a:ext uri="{0D108BD9-81ED-4DB2-BD59-A6C34878D82A}">
                    <a16:rowId xmlns:a16="http://schemas.microsoft.com/office/drawing/2014/main" val="2655451750"/>
                  </a:ext>
                </a:extLst>
              </a:tr>
              <a:tr h="1766394">
                <a:tc>
                  <a:txBody>
                    <a:bodyPr/>
                    <a:lstStyle/>
                    <a:p>
                      <a:r>
                        <a:rPr lang="en-IN" sz="1200" dirty="0">
                          <a:latin typeface="+mn-lt"/>
                        </a:rPr>
                        <a:t>3.</a:t>
                      </a:r>
                    </a:p>
                  </a:txBody>
                  <a:tcPr/>
                </a:tc>
                <a:tc>
                  <a:txBody>
                    <a:bodyPr/>
                    <a:lstStyle/>
                    <a:p>
                      <a:r>
                        <a:rPr lang="en-US" sz="1200" dirty="0"/>
                        <a:t>Research Journal of Engineering and Technology</a:t>
                      </a:r>
                      <a:endParaRPr lang="en-IN" sz="1200" dirty="0">
                        <a:latin typeface="+mn-lt"/>
                      </a:endParaRPr>
                    </a:p>
                  </a:txBody>
                  <a:tcPr/>
                </a:tc>
                <a:tc>
                  <a:txBody>
                    <a:bodyPr/>
                    <a:lstStyle/>
                    <a:p>
                      <a:r>
                        <a:rPr lang="en-IN" sz="1200" dirty="0"/>
                        <a:t>Pooja Nagpal, Shalini Bhaskar Bajaj, Aman </a:t>
                      </a:r>
                      <a:r>
                        <a:rPr lang="en-IN" sz="1200" dirty="0" err="1"/>
                        <a:t>Jatain</a:t>
                      </a:r>
                      <a:r>
                        <a:rPr lang="en-IN" sz="1200" dirty="0"/>
                        <a:t>, Sarika Chaudhary,</a:t>
                      </a:r>
                      <a:endParaRPr lang="en-IN" sz="1200" dirty="0">
                        <a:latin typeface="+mn-lt"/>
                      </a:endParaRPr>
                    </a:p>
                  </a:txBody>
                  <a:tcPr/>
                </a:tc>
                <a:tc>
                  <a:txBody>
                    <a:bodyPr/>
                    <a:lstStyle/>
                    <a:p>
                      <a:r>
                        <a:rPr lang="en-US" sz="1200" dirty="0">
                          <a:latin typeface="+mn-lt"/>
                        </a:rPr>
                        <a:t> </a:t>
                      </a:r>
                      <a:r>
                        <a:rPr lang="en-US" sz="1200" dirty="0"/>
                        <a:t>Motion Detection of Webcam Using Frame Differencing Method,</a:t>
                      </a:r>
                      <a:endParaRPr lang="en-IN" sz="1200" dirty="0">
                        <a:latin typeface="+mn-lt"/>
                      </a:endParaRPr>
                    </a:p>
                  </a:txBody>
                  <a:tcPr/>
                </a:tc>
                <a:tc>
                  <a:txBody>
                    <a:bodyPr/>
                    <a:lstStyle/>
                    <a:p>
                      <a:r>
                        <a:rPr lang="en-IN" sz="1200" dirty="0">
                          <a:latin typeface="+mn-lt"/>
                        </a:rPr>
                        <a:t>2021</a:t>
                      </a:r>
                    </a:p>
                  </a:txBody>
                  <a:tcPr/>
                </a:tc>
                <a:tc>
                  <a:txBody>
                    <a:bodyPr/>
                    <a:lstStyle/>
                    <a:p>
                      <a:pPr algn="just"/>
                      <a:r>
                        <a:rPr lang="en-US" sz="1200" dirty="0"/>
                        <a:t>It is the capability of humans and as well as vehicles to automatically detect object level motion that results into collision less navigation and also provides sense of situation. This paper presents a technique for secure object level motion detection which yields more accurate results</a:t>
                      </a:r>
                      <a:r>
                        <a:rPr lang="en-US" sz="1200" dirty="0">
                          <a:latin typeface="+mn-lt"/>
                        </a:rPr>
                        <a:t>.</a:t>
                      </a:r>
                      <a:endParaRPr lang="en-IN" sz="1200" dirty="0">
                        <a:latin typeface="+mn-lt"/>
                      </a:endParaRPr>
                    </a:p>
                  </a:txBody>
                  <a:tcPr/>
                </a:tc>
                <a:extLst>
                  <a:ext uri="{0D108BD9-81ED-4DB2-BD59-A6C34878D82A}">
                    <a16:rowId xmlns:a16="http://schemas.microsoft.com/office/drawing/2014/main" val="1495258845"/>
                  </a:ext>
                </a:extLst>
              </a:tr>
            </a:tbl>
          </a:graphicData>
        </a:graphic>
      </p:graphicFrame>
    </p:spTree>
    <p:extLst>
      <p:ext uri="{BB962C8B-B14F-4D97-AF65-F5344CB8AC3E}">
        <p14:creationId xmlns:p14="http://schemas.microsoft.com/office/powerpoint/2010/main" val="41209504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E190A-49D1-0AA7-AF12-D46365A571D3}"/>
              </a:ext>
            </a:extLst>
          </p:cNvPr>
          <p:cNvSpPr>
            <a:spLocks noGrp="1"/>
          </p:cNvSpPr>
          <p:nvPr>
            <p:ph type="title"/>
          </p:nvPr>
        </p:nvSpPr>
        <p:spPr>
          <a:xfrm>
            <a:off x="1221972" y="310693"/>
            <a:ext cx="9344891" cy="1293028"/>
          </a:xfrm>
        </p:spPr>
        <p:txBody>
          <a:bodyPr/>
          <a:lstStyle/>
          <a:p>
            <a:r>
              <a:rPr lang="en-US" dirty="0"/>
              <a:t>Software and hardware requirement</a:t>
            </a:r>
            <a:endParaRPr lang="en-IN" dirty="0"/>
          </a:p>
        </p:txBody>
      </p:sp>
      <p:sp>
        <p:nvSpPr>
          <p:cNvPr id="4" name="Content Placeholder 2">
            <a:extLst>
              <a:ext uri="{FF2B5EF4-FFF2-40B4-BE49-F238E27FC236}">
                <a16:creationId xmlns:a16="http://schemas.microsoft.com/office/drawing/2014/main" id="{2C94EDB7-565B-E84E-0AE8-73CDE9B76851}"/>
              </a:ext>
            </a:extLst>
          </p:cNvPr>
          <p:cNvSpPr txBox="1">
            <a:spLocks noGrp="1"/>
          </p:cNvSpPr>
          <p:nvPr>
            <p:ph idx="1"/>
          </p:nvPr>
        </p:nvSpPr>
        <p:spPr>
          <a:xfrm>
            <a:off x="685800" y="1603721"/>
            <a:ext cx="10820400" cy="4863581"/>
          </a:xfrm>
          <a:prstGeom prst="rect">
            <a:avLst/>
          </a:prstGeom>
        </p:spPr>
        <p:txBody>
          <a:bodyPr>
            <a:normAutofit fontScale="92500" lnSpcReduction="10000"/>
          </a:bodyPr>
          <a:lstStyle>
            <a:lvl1pPr marL="228600" indent="-228600" algn="l" defTabSz="914400" rtl="0" eaLnBrk="1" latinLnBrk="0" hangingPunct="1">
              <a:lnSpc>
                <a:spcPct val="90000"/>
              </a:lnSpc>
              <a:spcBef>
                <a:spcPts val="1800"/>
              </a:spcBef>
              <a:buFont typeface="Arial" panose="020B0604020202020204"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Font typeface="Arial" panose="020B0604020202020204" pitchFamily="34" charset="0"/>
              <a:buChar char="•"/>
              <a:defRPr sz="1800" kern="1200">
                <a:solidFill>
                  <a:schemeClr val="tx1"/>
                </a:solidFill>
                <a:latin typeface="+mn-lt"/>
                <a:ea typeface="+mn-ea"/>
                <a:cs typeface="+mn-cs"/>
              </a:defRPr>
            </a:lvl2pPr>
            <a:lvl3pPr marL="685800" indent="-182880" algn="l" defTabSz="914400" rtl="0" eaLnBrk="1" latinLnBrk="0" hangingPunct="1">
              <a:lnSpc>
                <a:spcPct val="90000"/>
              </a:lnSpc>
              <a:spcBef>
                <a:spcPts val="600"/>
              </a:spcBef>
              <a:buFont typeface="Arial" panose="020B0604020202020204"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600"/>
              </a:spcBef>
              <a:buFont typeface="Arial" panose="020B0604020202020204" pitchFamily="34" charset="0"/>
              <a:buChar char="•"/>
              <a:defRPr sz="1400" kern="1200">
                <a:solidFill>
                  <a:schemeClr val="tx1"/>
                </a:solidFill>
                <a:latin typeface="+mn-lt"/>
                <a:ea typeface="+mn-ea"/>
                <a:cs typeface="+mn-cs"/>
              </a:defRPr>
            </a:lvl4pPr>
            <a:lvl5pPr marL="1143000" indent="-182880" algn="l" defTabSz="914400" rtl="0" eaLnBrk="1" latinLnBrk="0" hangingPunct="1">
              <a:lnSpc>
                <a:spcPct val="90000"/>
              </a:lnSpc>
              <a:spcBef>
                <a:spcPts val="600"/>
              </a:spcBef>
              <a:buFont typeface="Arial" panose="020B0604020202020204"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Font typeface="Arial" panose="020B0604020202020204" pitchFamily="34" charset="0"/>
              <a:buChar char="•"/>
              <a:defRPr sz="1400" kern="1200">
                <a:solidFill>
                  <a:schemeClr val="tx1"/>
                </a:solidFill>
                <a:latin typeface="+mn-lt"/>
                <a:ea typeface="+mn-ea"/>
                <a:cs typeface="+mn-cs"/>
              </a:defRPr>
            </a:lvl6pPr>
            <a:lvl7pPr marL="1600200" indent="-182880" algn="l" defTabSz="914400" rtl="0" eaLnBrk="1" latinLnBrk="0" hangingPunct="1">
              <a:lnSpc>
                <a:spcPct val="90000"/>
              </a:lnSpc>
              <a:spcBef>
                <a:spcPts val="600"/>
              </a:spcBef>
              <a:buFont typeface="Arial" panose="020B0604020202020204"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Font typeface="Arial" panose="020B0604020202020204" pitchFamily="34" charset="0"/>
              <a:buChar char="•"/>
              <a:defRPr sz="1400" kern="1200">
                <a:solidFill>
                  <a:schemeClr val="tx1"/>
                </a:solidFill>
                <a:latin typeface="+mn-lt"/>
                <a:ea typeface="+mn-ea"/>
                <a:cs typeface="+mn-cs"/>
              </a:defRPr>
            </a:lvl8pPr>
            <a:lvl9pPr marL="2057400" indent="-182880" algn="l" defTabSz="914400" rtl="0" eaLnBrk="1" latinLnBrk="0" hangingPunct="1">
              <a:lnSpc>
                <a:spcPct val="90000"/>
              </a:lnSpc>
              <a:spcBef>
                <a:spcPts val="600"/>
              </a:spcBef>
              <a:buFont typeface="Arial" panose="020B0604020202020204" pitchFamily="34" charset="0"/>
              <a:buChar char="•"/>
              <a:defRPr sz="1400" kern="1200">
                <a:solidFill>
                  <a:schemeClr val="tx1"/>
                </a:solidFill>
                <a:latin typeface="+mn-lt"/>
                <a:ea typeface="+mn-ea"/>
                <a:cs typeface="+mn-cs"/>
              </a:defRPr>
            </a:lvl9pPr>
          </a:lstStyle>
          <a:p>
            <a:pPr marL="82296" indent="0">
              <a:buFont typeface="Arial" panose="020B0604020202020204" pitchFamily="34" charset="0"/>
              <a:buNone/>
            </a:pPr>
            <a:r>
              <a:rPr lang="en-US" sz="1800" cap="none" dirty="0">
                <a:latin typeface="+mj-lt"/>
                <a:cs typeface="Times New Roman" panose="02020603050405020304" pitchFamily="18" charset="0"/>
              </a:rPr>
              <a:t>Software requirements:</a:t>
            </a:r>
          </a:p>
          <a:p>
            <a:pPr marL="368046" indent="-285750"/>
            <a:r>
              <a:rPr lang="en-US" sz="1800" cap="none" dirty="0">
                <a:latin typeface="+mj-lt"/>
                <a:cs typeface="Times New Roman" panose="02020603050405020304" pitchFamily="18" charset="0"/>
              </a:rPr>
              <a:t>Python </a:t>
            </a:r>
          </a:p>
          <a:p>
            <a:pPr marL="368046" indent="-285750"/>
            <a:r>
              <a:rPr lang="en-US" sz="1800" cap="none" dirty="0">
                <a:latin typeface="+mj-lt"/>
                <a:cs typeface="Times New Roman" panose="02020603050405020304" pitchFamily="18" charset="0"/>
              </a:rPr>
              <a:t>MySQL</a:t>
            </a:r>
          </a:p>
          <a:p>
            <a:pPr marL="82296" indent="0">
              <a:buFont typeface="Arial" panose="020B0604020202020204" pitchFamily="34" charset="0"/>
              <a:buNone/>
            </a:pPr>
            <a:endParaRPr lang="en-US" sz="1800" cap="none" dirty="0">
              <a:latin typeface="+mj-lt"/>
              <a:cs typeface="Times New Roman" panose="02020603050405020304" pitchFamily="18" charset="0"/>
            </a:endParaRPr>
          </a:p>
          <a:p>
            <a:pPr marL="82296" indent="0">
              <a:buFont typeface="Arial" panose="020B0604020202020204" pitchFamily="34" charset="0"/>
              <a:buNone/>
            </a:pPr>
            <a:r>
              <a:rPr lang="en-US" sz="1800" cap="none" dirty="0">
                <a:latin typeface="+mj-lt"/>
                <a:cs typeface="Times New Roman" panose="02020603050405020304" pitchFamily="18" charset="0"/>
              </a:rPr>
              <a:t>Hardware requirements:</a:t>
            </a:r>
          </a:p>
          <a:p>
            <a:r>
              <a:rPr lang="en-US" sz="1800" cap="none" dirty="0">
                <a:latin typeface="+mj-lt"/>
                <a:cs typeface="Times New Roman" panose="02020603050405020304" pitchFamily="18" charset="0"/>
              </a:rPr>
              <a:t>Operating system: Windows 10 (and above) or Linux</a:t>
            </a:r>
          </a:p>
          <a:p>
            <a:r>
              <a:rPr lang="en-US" sz="1800" cap="none" dirty="0">
                <a:latin typeface="+mj-lt"/>
                <a:cs typeface="Times New Roman" panose="02020603050405020304" pitchFamily="18" charset="0"/>
              </a:rPr>
              <a:t>Processor: Intel i3/i5/i7 or AMD Ryzen </a:t>
            </a:r>
          </a:p>
          <a:p>
            <a:r>
              <a:rPr lang="en-US" sz="1800" cap="none" dirty="0">
                <a:latin typeface="+mj-lt"/>
                <a:cs typeface="Times New Roman" panose="02020603050405020304" pitchFamily="18" charset="0"/>
              </a:rPr>
              <a:t>Speed: 3.10 GHz and above</a:t>
            </a:r>
          </a:p>
          <a:p>
            <a:r>
              <a:rPr lang="en-US" sz="1800" cap="none" dirty="0">
                <a:latin typeface="+mj-lt"/>
                <a:cs typeface="Times New Roman" panose="02020603050405020304" pitchFamily="18" charset="0"/>
              </a:rPr>
              <a:t>RAM: 8gb(min) up to 16GB (max) </a:t>
            </a:r>
          </a:p>
          <a:p>
            <a:r>
              <a:rPr lang="en-US" sz="1800" cap="none" dirty="0">
                <a:latin typeface="+mj-lt"/>
                <a:cs typeface="Times New Roman" panose="02020603050405020304" pitchFamily="18" charset="0"/>
              </a:rPr>
              <a:t>Storage:500 GB(SSD)</a:t>
            </a:r>
          </a:p>
          <a:p>
            <a:r>
              <a:rPr lang="en-US" sz="1800" cap="none" dirty="0">
                <a:latin typeface="+mj-lt"/>
                <a:cs typeface="Times New Roman" panose="02020603050405020304" pitchFamily="18" charset="0"/>
              </a:rPr>
              <a:t>Peripherals: Keyboard, </a:t>
            </a:r>
            <a:r>
              <a:rPr lang="en-US" sz="1800" cap="none" dirty="0" err="1">
                <a:latin typeface="+mj-lt"/>
                <a:cs typeface="Times New Roman" panose="02020603050405020304" pitchFamily="18" charset="0"/>
              </a:rPr>
              <a:t>Mouse,Webcam</a:t>
            </a:r>
            <a:r>
              <a:rPr lang="en-US" sz="1800" cap="none" dirty="0">
                <a:latin typeface="+mj-lt"/>
                <a:cs typeface="Times New Roman" panose="02020603050405020304" pitchFamily="18" charset="0"/>
              </a:rPr>
              <a:t> </a:t>
            </a:r>
          </a:p>
        </p:txBody>
      </p:sp>
    </p:spTree>
    <p:extLst>
      <p:ext uri="{BB962C8B-B14F-4D97-AF65-F5344CB8AC3E}">
        <p14:creationId xmlns:p14="http://schemas.microsoft.com/office/powerpoint/2010/main" val="921680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315DE-B550-3ED6-4786-78073EA4BF01}"/>
              </a:ext>
            </a:extLst>
          </p:cNvPr>
          <p:cNvSpPr>
            <a:spLocks noGrp="1"/>
          </p:cNvSpPr>
          <p:nvPr>
            <p:ph type="title"/>
          </p:nvPr>
        </p:nvSpPr>
        <p:spPr/>
        <p:txBody>
          <a:bodyPr/>
          <a:lstStyle/>
          <a:p>
            <a:r>
              <a:rPr lang="en-US" dirty="0"/>
              <a:t>Proposed System</a:t>
            </a:r>
            <a:endParaRPr lang="en-IN" dirty="0"/>
          </a:p>
        </p:txBody>
      </p:sp>
      <p:pic>
        <p:nvPicPr>
          <p:cNvPr id="5" name="Content Placeholder 4">
            <a:extLst>
              <a:ext uri="{FF2B5EF4-FFF2-40B4-BE49-F238E27FC236}">
                <a16:creationId xmlns:a16="http://schemas.microsoft.com/office/drawing/2014/main" id="{030AA42E-B1A7-1E26-34CB-2E3007DBC29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86657" y="1521547"/>
            <a:ext cx="8818685" cy="4693451"/>
          </a:xfrm>
          <a:ln>
            <a:solidFill>
              <a:schemeClr val="tx1"/>
            </a:solidFill>
          </a:ln>
        </p:spPr>
      </p:pic>
      <p:sp>
        <p:nvSpPr>
          <p:cNvPr id="7" name="TextBox 6">
            <a:extLst>
              <a:ext uri="{FF2B5EF4-FFF2-40B4-BE49-F238E27FC236}">
                <a16:creationId xmlns:a16="http://schemas.microsoft.com/office/drawing/2014/main" id="{9611B42B-2AFA-FFDD-086B-C3BCC013885E}"/>
              </a:ext>
            </a:extLst>
          </p:cNvPr>
          <p:cNvSpPr txBox="1"/>
          <p:nvPr/>
        </p:nvSpPr>
        <p:spPr>
          <a:xfrm>
            <a:off x="3336173" y="6314751"/>
            <a:ext cx="5519651" cy="369332"/>
          </a:xfrm>
          <a:prstGeom prst="rect">
            <a:avLst/>
          </a:prstGeom>
          <a:noFill/>
        </p:spPr>
        <p:txBody>
          <a:bodyPr wrap="square" rtlCol="0">
            <a:spAutoFit/>
          </a:bodyPr>
          <a:lstStyle/>
          <a:p>
            <a:pPr algn="ctr"/>
            <a:r>
              <a:rPr lang="en-US" dirty="0"/>
              <a:t>Fig. Architecture Diagram</a:t>
            </a:r>
            <a:endParaRPr lang="en-IN" dirty="0"/>
          </a:p>
        </p:txBody>
      </p:sp>
    </p:spTree>
    <p:extLst>
      <p:ext uri="{BB962C8B-B14F-4D97-AF65-F5344CB8AC3E}">
        <p14:creationId xmlns:p14="http://schemas.microsoft.com/office/powerpoint/2010/main" val="23620665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DE493-01A0-6F9F-F313-F5B8D280414D}"/>
              </a:ext>
            </a:extLst>
          </p:cNvPr>
          <p:cNvSpPr>
            <a:spLocks noGrp="1"/>
          </p:cNvSpPr>
          <p:nvPr>
            <p:ph type="title"/>
          </p:nvPr>
        </p:nvSpPr>
        <p:spPr/>
        <p:txBody>
          <a:bodyPr/>
          <a:lstStyle/>
          <a:p>
            <a:r>
              <a:rPr lang="en-US" dirty="0"/>
              <a:t>Proposed System (cont.)</a:t>
            </a:r>
            <a:endParaRPr lang="en-IN" dirty="0"/>
          </a:p>
        </p:txBody>
      </p:sp>
      <p:sp>
        <p:nvSpPr>
          <p:cNvPr id="4" name="TextBox 3">
            <a:extLst>
              <a:ext uri="{FF2B5EF4-FFF2-40B4-BE49-F238E27FC236}">
                <a16:creationId xmlns:a16="http://schemas.microsoft.com/office/drawing/2014/main" id="{9EFDADB3-1E31-003C-4B95-E9534CF28B68}"/>
              </a:ext>
            </a:extLst>
          </p:cNvPr>
          <p:cNvSpPr txBox="1"/>
          <p:nvPr/>
        </p:nvSpPr>
        <p:spPr>
          <a:xfrm>
            <a:off x="3772592" y="6284422"/>
            <a:ext cx="4646814" cy="369332"/>
          </a:xfrm>
          <a:prstGeom prst="rect">
            <a:avLst/>
          </a:prstGeom>
          <a:noFill/>
        </p:spPr>
        <p:txBody>
          <a:bodyPr wrap="square" rtlCol="0">
            <a:spAutoFit/>
          </a:bodyPr>
          <a:lstStyle/>
          <a:p>
            <a:pPr algn="ctr"/>
            <a:r>
              <a:rPr lang="en-US" dirty="0"/>
              <a:t>Fig. Block Diagram</a:t>
            </a:r>
            <a:endParaRPr lang="en-IN" dirty="0"/>
          </a:p>
        </p:txBody>
      </p:sp>
      <p:pic>
        <p:nvPicPr>
          <p:cNvPr id="6" name="Picture 5">
            <a:extLst>
              <a:ext uri="{FF2B5EF4-FFF2-40B4-BE49-F238E27FC236}">
                <a16:creationId xmlns:a16="http://schemas.microsoft.com/office/drawing/2014/main" id="{54AA8796-1F25-30ED-6520-280167D474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60133" y="1436716"/>
            <a:ext cx="7871731" cy="4847706"/>
          </a:xfrm>
          <a:prstGeom prst="rect">
            <a:avLst/>
          </a:prstGeom>
          <a:ln>
            <a:solidFill>
              <a:schemeClr val="tx1"/>
            </a:solidFill>
          </a:ln>
        </p:spPr>
      </p:pic>
    </p:spTree>
    <p:extLst>
      <p:ext uri="{BB962C8B-B14F-4D97-AF65-F5344CB8AC3E}">
        <p14:creationId xmlns:p14="http://schemas.microsoft.com/office/powerpoint/2010/main" val="3567009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6E91A-FC04-A2BF-E9F5-03E5DBFD50D3}"/>
              </a:ext>
            </a:extLst>
          </p:cNvPr>
          <p:cNvSpPr>
            <a:spLocks noGrp="1"/>
          </p:cNvSpPr>
          <p:nvPr>
            <p:ph type="title"/>
          </p:nvPr>
        </p:nvSpPr>
        <p:spPr/>
        <p:txBody>
          <a:bodyPr/>
          <a:lstStyle/>
          <a:p>
            <a:r>
              <a:rPr lang="en-US" dirty="0"/>
              <a:t>Modules: Motion Detection</a:t>
            </a:r>
            <a:endParaRPr lang="en-IN" dirty="0"/>
          </a:p>
        </p:txBody>
      </p:sp>
      <p:pic>
        <p:nvPicPr>
          <p:cNvPr id="5" name="Content Placeholder 4">
            <a:extLst>
              <a:ext uri="{FF2B5EF4-FFF2-40B4-BE49-F238E27FC236}">
                <a16:creationId xmlns:a16="http://schemas.microsoft.com/office/drawing/2014/main" id="{1DADCD03-79FC-A85B-9DEC-64F8E8325BE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74073" y="1437420"/>
            <a:ext cx="6168043" cy="5029882"/>
          </a:xfrm>
          <a:ln>
            <a:solidFill>
              <a:schemeClr val="tx1"/>
            </a:solidFill>
          </a:ln>
        </p:spPr>
      </p:pic>
      <p:sp>
        <p:nvSpPr>
          <p:cNvPr id="6" name="TextBox 5">
            <a:extLst>
              <a:ext uri="{FF2B5EF4-FFF2-40B4-BE49-F238E27FC236}">
                <a16:creationId xmlns:a16="http://schemas.microsoft.com/office/drawing/2014/main" id="{D164D9D0-7E22-1811-0ED5-4DA413313CFA}"/>
              </a:ext>
            </a:extLst>
          </p:cNvPr>
          <p:cNvSpPr txBox="1"/>
          <p:nvPr/>
        </p:nvSpPr>
        <p:spPr>
          <a:xfrm>
            <a:off x="6974378" y="1437420"/>
            <a:ext cx="4843549" cy="5078313"/>
          </a:xfrm>
          <a:prstGeom prst="rect">
            <a:avLst/>
          </a:prstGeom>
          <a:noFill/>
        </p:spPr>
        <p:txBody>
          <a:bodyPr wrap="square" rtlCol="0">
            <a:spAutoFit/>
          </a:bodyPr>
          <a:lstStyle/>
          <a:p>
            <a:pPr marL="285750" indent="-285750" algn="just">
              <a:buFont typeface="Arial" panose="020B0604020202020204" pitchFamily="34" charset="0"/>
              <a:buChar char="•"/>
            </a:pPr>
            <a:r>
              <a:rPr lang="en-US" dirty="0"/>
              <a:t>The motion detection module uses live video stream from Webcam and Gaussian-Blur method to detect the motion.</a:t>
            </a:r>
          </a:p>
          <a:p>
            <a:pPr marL="285750" indent="-285750" algn="just">
              <a:buFont typeface="Arial" panose="020B0604020202020204" pitchFamily="34" charset="0"/>
              <a:buChar char="•"/>
            </a:pPr>
            <a:r>
              <a:rPr lang="en-US" dirty="0"/>
              <a:t>For detecting the motion in a live video camera, the Gaussian-Blur method uses frames of video captured by Webcam. These frames are then converted into grey scale image frames from RGB color image. </a:t>
            </a:r>
          </a:p>
          <a:p>
            <a:pPr marL="285750" indent="-285750" algn="just">
              <a:buFont typeface="Arial" panose="020B0604020202020204" pitchFamily="34" charset="0"/>
              <a:buChar char="•"/>
            </a:pPr>
            <a:r>
              <a:rPr lang="en-US" dirty="0"/>
              <a:t>These grey scale images are nothing but 0 or 1 i.e., in the binary value and helps to detect the motion. The Gaussian-Blur method compares the first frame with other frames using a threshold called contour. </a:t>
            </a:r>
          </a:p>
          <a:p>
            <a:pPr marL="285750" indent="-285750" algn="just">
              <a:buFont typeface="Arial" panose="020B0604020202020204" pitchFamily="34" charset="0"/>
              <a:buChar char="•"/>
            </a:pPr>
            <a:r>
              <a:rPr lang="en-US" dirty="0"/>
              <a:t>By minimizing the threshold value, we can detect small motions made by an object</a:t>
            </a:r>
            <a:r>
              <a:rPr lang="en-IN" dirty="0"/>
              <a:t> and by maximizing it, we can detect motions which moves from one place to another within video frame of Webcam.</a:t>
            </a:r>
            <a:endParaRPr lang="en-US" dirty="0"/>
          </a:p>
        </p:txBody>
      </p:sp>
    </p:spTree>
    <p:extLst>
      <p:ext uri="{BB962C8B-B14F-4D97-AF65-F5344CB8AC3E}">
        <p14:creationId xmlns:p14="http://schemas.microsoft.com/office/powerpoint/2010/main" val="33449578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5E1D6-C514-18A7-49F4-3E72B84EC9B5}"/>
              </a:ext>
            </a:extLst>
          </p:cNvPr>
          <p:cNvSpPr>
            <a:spLocks noGrp="1"/>
          </p:cNvSpPr>
          <p:nvPr>
            <p:ph type="title"/>
          </p:nvPr>
        </p:nvSpPr>
        <p:spPr/>
        <p:txBody>
          <a:bodyPr/>
          <a:lstStyle/>
          <a:p>
            <a:r>
              <a:rPr lang="en-US" dirty="0"/>
              <a:t>Modules: Face Identification</a:t>
            </a:r>
            <a:endParaRPr lang="en-IN" dirty="0"/>
          </a:p>
        </p:txBody>
      </p:sp>
      <p:pic>
        <p:nvPicPr>
          <p:cNvPr id="5" name="Content Placeholder 4">
            <a:extLst>
              <a:ext uri="{FF2B5EF4-FFF2-40B4-BE49-F238E27FC236}">
                <a16:creationId xmlns:a16="http://schemas.microsoft.com/office/drawing/2014/main" id="{7361C72A-CDF2-B7F1-3725-473168E167C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1858" y="1843261"/>
            <a:ext cx="5854870" cy="4698855"/>
          </a:xfrm>
          <a:ln>
            <a:solidFill>
              <a:schemeClr val="tx1"/>
            </a:solidFill>
          </a:ln>
        </p:spPr>
      </p:pic>
      <p:sp>
        <p:nvSpPr>
          <p:cNvPr id="6" name="TextBox 5">
            <a:extLst>
              <a:ext uri="{FF2B5EF4-FFF2-40B4-BE49-F238E27FC236}">
                <a16:creationId xmlns:a16="http://schemas.microsoft.com/office/drawing/2014/main" id="{E1D861E0-9567-435F-266E-3777E028F42D}"/>
              </a:ext>
            </a:extLst>
          </p:cNvPr>
          <p:cNvSpPr txBox="1"/>
          <p:nvPr/>
        </p:nvSpPr>
        <p:spPr>
          <a:xfrm>
            <a:off x="6334298" y="1646238"/>
            <a:ext cx="5569527" cy="4801314"/>
          </a:xfrm>
          <a:prstGeom prst="rect">
            <a:avLst/>
          </a:prstGeom>
          <a:noFill/>
        </p:spPr>
        <p:txBody>
          <a:bodyPr wrap="square" rtlCol="0">
            <a:spAutoFit/>
          </a:bodyPr>
          <a:lstStyle/>
          <a:p>
            <a:pPr marL="285750" indent="-285750" algn="just">
              <a:buFont typeface="Arial" panose="020B0604020202020204" pitchFamily="34" charset="0"/>
              <a:buChar char="•"/>
            </a:pPr>
            <a:r>
              <a:rPr lang="en-US" dirty="0"/>
              <a:t>For detection of multiple faces, the </a:t>
            </a:r>
            <a:r>
              <a:rPr lang="en-US" dirty="0" err="1"/>
              <a:t>Haar</a:t>
            </a:r>
            <a:r>
              <a:rPr lang="en-US" dirty="0"/>
              <a:t>-Cascade Classifier model is used. The faces are detected using gray scale image, which helps to detect faces quickly.</a:t>
            </a:r>
          </a:p>
          <a:p>
            <a:pPr marL="285750" indent="-285750" algn="just">
              <a:buFont typeface="Arial" panose="020B0604020202020204" pitchFamily="34" charset="0"/>
              <a:buChar char="•"/>
            </a:pPr>
            <a:r>
              <a:rPr lang="en-US" dirty="0"/>
              <a:t>By using the </a:t>
            </a:r>
            <a:r>
              <a:rPr lang="en-US" dirty="0" err="1"/>
              <a:t>Haar</a:t>
            </a:r>
            <a:r>
              <a:rPr lang="en-US" dirty="0"/>
              <a:t>-Cascade Classifier model we can detect multiple faces and store newly detected face in the database and also in the local storage.</a:t>
            </a:r>
          </a:p>
          <a:p>
            <a:pPr marL="285750" indent="-285750" algn="just">
              <a:buFont typeface="Arial" panose="020B0604020202020204" pitchFamily="34" charset="0"/>
              <a:buChar char="•"/>
            </a:pPr>
            <a:r>
              <a:rPr lang="en-US" dirty="0"/>
              <a:t>Also, these detected face encodings are send toward recognition model for face recognition of known faces.</a:t>
            </a:r>
          </a:p>
          <a:p>
            <a:pPr marL="285750" indent="-285750" algn="just">
              <a:buFont typeface="Arial" panose="020B0604020202020204" pitchFamily="34" charset="0"/>
              <a:buChar char="•"/>
            </a:pPr>
            <a:r>
              <a:rPr lang="en-US" dirty="0"/>
              <a:t>The Face Recognition model is used to recognize the face by taking current face encodings and past stored encodings in database.</a:t>
            </a:r>
          </a:p>
          <a:p>
            <a:pPr marL="285750" indent="-285750" algn="just">
              <a:buFont typeface="Arial" panose="020B0604020202020204" pitchFamily="34" charset="0"/>
              <a:buChar char="•"/>
            </a:pPr>
            <a:r>
              <a:rPr lang="en-US" dirty="0"/>
              <a:t>The past stored encodings are stored in MySQL database and fetched when we need to recognize the faces.</a:t>
            </a:r>
          </a:p>
          <a:p>
            <a:pPr marL="285750" indent="-285750" algn="just">
              <a:buFont typeface="Arial" panose="020B0604020202020204" pitchFamily="34" charset="0"/>
              <a:buChar char="•"/>
            </a:pPr>
            <a:r>
              <a:rPr lang="en-US" dirty="0"/>
              <a:t>The Face Recognition module, compare the current face encodings with the previously stored encodings in the database.</a:t>
            </a:r>
            <a:endParaRPr lang="en-IN" dirty="0"/>
          </a:p>
        </p:txBody>
      </p:sp>
    </p:spTree>
    <p:extLst>
      <p:ext uri="{BB962C8B-B14F-4D97-AF65-F5344CB8AC3E}">
        <p14:creationId xmlns:p14="http://schemas.microsoft.com/office/powerpoint/2010/main" val="39226044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0244E-6040-2EF2-40DA-247637794E18}"/>
              </a:ext>
            </a:extLst>
          </p:cNvPr>
          <p:cNvSpPr>
            <a:spLocks noGrp="1"/>
          </p:cNvSpPr>
          <p:nvPr>
            <p:ph type="title"/>
          </p:nvPr>
        </p:nvSpPr>
        <p:spPr/>
        <p:txBody>
          <a:bodyPr/>
          <a:lstStyle/>
          <a:p>
            <a:r>
              <a:rPr lang="en-US" dirty="0"/>
              <a:t>Result</a:t>
            </a:r>
            <a:endParaRPr lang="en-IN" dirty="0"/>
          </a:p>
        </p:txBody>
      </p:sp>
      <p:sp>
        <p:nvSpPr>
          <p:cNvPr id="3" name="Content Placeholder 2">
            <a:extLst>
              <a:ext uri="{FF2B5EF4-FFF2-40B4-BE49-F238E27FC236}">
                <a16:creationId xmlns:a16="http://schemas.microsoft.com/office/drawing/2014/main" id="{8B1E1E6F-0BD2-144E-0CE5-9023F0D3B663}"/>
              </a:ext>
            </a:extLst>
          </p:cNvPr>
          <p:cNvSpPr>
            <a:spLocks noGrp="1"/>
          </p:cNvSpPr>
          <p:nvPr>
            <p:ph idx="1"/>
          </p:nvPr>
        </p:nvSpPr>
        <p:spPr>
          <a:xfrm>
            <a:off x="5710843" y="1745674"/>
            <a:ext cx="6086302" cy="4352423"/>
          </a:xfrm>
        </p:spPr>
        <p:txBody>
          <a:bodyPr>
            <a:normAutofit fontScale="85000" lnSpcReduction="20000"/>
          </a:bodyPr>
          <a:lstStyle/>
          <a:p>
            <a:pPr marL="425196" indent="-342900" algn="just">
              <a:buFont typeface="Arial" panose="020B0604020202020204" pitchFamily="34" charset="0"/>
              <a:buChar char="•"/>
            </a:pPr>
            <a:r>
              <a:rPr lang="en-US" sz="2400" cap="none" dirty="0">
                <a:latin typeface="Times New Roman" panose="02020603050405020304" pitchFamily="18" charset="0"/>
                <a:cs typeface="Times New Roman" panose="02020603050405020304" pitchFamily="18" charset="0"/>
              </a:rPr>
              <a:t>The whole model executes simultaneously i.e., at first the motion detection module executes to detect motion, if there is no motion detected by model then Face Identification module executes to detect multiple faces and recognize the faces using previously stored data in database.</a:t>
            </a:r>
          </a:p>
          <a:p>
            <a:pPr marL="425196" indent="-342900" algn="just">
              <a:buFont typeface="Arial" panose="020B0604020202020204" pitchFamily="34" charset="0"/>
              <a:buChar char="•"/>
            </a:pPr>
            <a:r>
              <a:rPr lang="en-US" sz="2400" cap="none" dirty="0">
                <a:latin typeface="Times New Roman" panose="02020603050405020304" pitchFamily="18" charset="0"/>
                <a:cs typeface="Times New Roman" panose="02020603050405020304" pitchFamily="18" charset="0"/>
              </a:rPr>
              <a:t>The model uses Webcam as Surveillance Camera to provide advanced security and use machine learning and deep learning models to automate the motion detection and multiple faces identification.</a:t>
            </a:r>
          </a:p>
          <a:p>
            <a:pPr marL="425196" indent="-342900" algn="just">
              <a:buFont typeface="Arial" panose="020B0604020202020204" pitchFamily="34" charset="0"/>
              <a:buChar char="•"/>
            </a:pPr>
            <a:r>
              <a:rPr lang="en-US" sz="2400" cap="none" dirty="0">
                <a:latin typeface="Times New Roman" panose="02020603050405020304" pitchFamily="18" charset="0"/>
                <a:cs typeface="Times New Roman" panose="02020603050405020304" pitchFamily="18" charset="0"/>
              </a:rPr>
              <a:t>This whole project is in loop to work more efficiently and give continuous output as shown in Figure aside.</a:t>
            </a:r>
          </a:p>
          <a:p>
            <a:endParaRPr lang="en-IN" cap="none" dirty="0"/>
          </a:p>
        </p:txBody>
      </p:sp>
      <p:pic>
        <p:nvPicPr>
          <p:cNvPr id="6" name="Picture 5">
            <a:extLst>
              <a:ext uri="{FF2B5EF4-FFF2-40B4-BE49-F238E27FC236}">
                <a16:creationId xmlns:a16="http://schemas.microsoft.com/office/drawing/2014/main" id="{BDB10A2B-7589-FA42-7809-C8B99C9303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6379" y="1745674"/>
            <a:ext cx="5419898" cy="4352423"/>
          </a:xfrm>
          <a:prstGeom prst="rect">
            <a:avLst/>
          </a:prstGeom>
        </p:spPr>
      </p:pic>
    </p:spTree>
    <p:extLst>
      <p:ext uri="{BB962C8B-B14F-4D97-AF65-F5344CB8AC3E}">
        <p14:creationId xmlns:p14="http://schemas.microsoft.com/office/powerpoint/2010/main" val="811811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A8ED7-20FA-F8AB-83B2-20320C0C451E}"/>
              </a:ext>
            </a:extLst>
          </p:cNvPr>
          <p:cNvSpPr>
            <a:spLocks noGrp="1"/>
          </p:cNvSpPr>
          <p:nvPr>
            <p:ph type="title"/>
          </p:nvPr>
        </p:nvSpPr>
        <p:spPr/>
        <p:txBody>
          <a:bodyPr/>
          <a:lstStyle/>
          <a:p>
            <a:r>
              <a:rPr lang="en-US" dirty="0"/>
              <a:t>Result (Cont.)</a:t>
            </a:r>
            <a:endParaRPr lang="en-IN" dirty="0"/>
          </a:p>
        </p:txBody>
      </p:sp>
      <p:sp>
        <p:nvSpPr>
          <p:cNvPr id="3" name="Content Placeholder 2">
            <a:extLst>
              <a:ext uri="{FF2B5EF4-FFF2-40B4-BE49-F238E27FC236}">
                <a16:creationId xmlns:a16="http://schemas.microsoft.com/office/drawing/2014/main" id="{53ACD19C-FABE-F6D4-F30C-DF9C7929B9BC}"/>
              </a:ext>
            </a:extLst>
          </p:cNvPr>
          <p:cNvSpPr>
            <a:spLocks noGrp="1"/>
          </p:cNvSpPr>
          <p:nvPr>
            <p:ph idx="1"/>
          </p:nvPr>
        </p:nvSpPr>
        <p:spPr>
          <a:xfrm>
            <a:off x="432263" y="1945178"/>
            <a:ext cx="5968538" cy="4297680"/>
          </a:xfrm>
        </p:spPr>
        <p:txBody>
          <a:bodyPr>
            <a:normAutofit lnSpcReduction="10000"/>
          </a:bodyPr>
          <a:lstStyle/>
          <a:p>
            <a:pPr algn="just"/>
            <a:r>
              <a:rPr lang="en-US" cap="none" dirty="0">
                <a:latin typeface="Times New Roman" panose="02020603050405020304" pitchFamily="18" charset="0"/>
                <a:cs typeface="Times New Roman" panose="02020603050405020304" pitchFamily="18" charset="0"/>
              </a:rPr>
              <a:t>In the Figure aside, the Green Boxes in the result shows how the use of Gaussian-Blur model helps the motion detection model to execute efficiently and find the even the smallest movements or actions made by human or an object. Gaussian-Blur makes the motion detection model faster by using grey scale image processing.</a:t>
            </a:r>
          </a:p>
          <a:p>
            <a:pPr algn="just"/>
            <a:r>
              <a:rPr lang="en-US" cap="none" dirty="0">
                <a:latin typeface="Times New Roman" panose="02020603050405020304" pitchFamily="18" charset="0"/>
                <a:cs typeface="Times New Roman" panose="02020603050405020304" pitchFamily="18" charset="0"/>
              </a:rPr>
              <a:t>The Yellow boxes in the result shows the execution output of multiple face detection. By using </a:t>
            </a:r>
            <a:r>
              <a:rPr lang="en-US" cap="none" dirty="0" err="1">
                <a:latin typeface="Times New Roman" panose="02020603050405020304" pitchFamily="18" charset="0"/>
                <a:cs typeface="Times New Roman" panose="02020603050405020304" pitchFamily="18" charset="0"/>
              </a:rPr>
              <a:t>Haar</a:t>
            </a:r>
            <a:r>
              <a:rPr lang="en-US" cap="none" dirty="0">
                <a:latin typeface="Times New Roman" panose="02020603050405020304" pitchFamily="18" charset="0"/>
                <a:cs typeface="Times New Roman" panose="02020603050405020304" pitchFamily="18" charset="0"/>
              </a:rPr>
              <a:t>-Cascade Classifier model, it is quite easy to detect multiple faces at the same time without taking more execution time.</a:t>
            </a:r>
          </a:p>
        </p:txBody>
      </p:sp>
      <p:pic>
        <p:nvPicPr>
          <p:cNvPr id="5" name="Picture 4">
            <a:extLst>
              <a:ext uri="{FF2B5EF4-FFF2-40B4-BE49-F238E27FC236}">
                <a16:creationId xmlns:a16="http://schemas.microsoft.com/office/drawing/2014/main" id="{5FEA817A-A15D-0174-3D32-E17CB5A64F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91993" y="2219498"/>
            <a:ext cx="5375563" cy="4106487"/>
          </a:xfrm>
          <a:prstGeom prst="rect">
            <a:avLst/>
          </a:prstGeom>
        </p:spPr>
      </p:pic>
    </p:spTree>
    <p:extLst>
      <p:ext uri="{BB962C8B-B14F-4D97-AF65-F5344CB8AC3E}">
        <p14:creationId xmlns:p14="http://schemas.microsoft.com/office/powerpoint/2010/main" val="6863259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C954C-0543-E935-326F-CD9E79D24478}"/>
              </a:ext>
            </a:extLst>
          </p:cNvPr>
          <p:cNvSpPr>
            <a:spLocks noGrp="1"/>
          </p:cNvSpPr>
          <p:nvPr>
            <p:ph type="title"/>
          </p:nvPr>
        </p:nvSpPr>
        <p:spPr/>
        <p:txBody>
          <a:bodyPr/>
          <a:lstStyle/>
          <a:p>
            <a:r>
              <a:rPr lang="en-US" dirty="0"/>
              <a:t>Result (cont.)</a:t>
            </a:r>
            <a:endParaRPr lang="en-IN" dirty="0"/>
          </a:p>
        </p:txBody>
      </p:sp>
      <p:sp>
        <p:nvSpPr>
          <p:cNvPr id="3" name="Content Placeholder 2">
            <a:extLst>
              <a:ext uri="{FF2B5EF4-FFF2-40B4-BE49-F238E27FC236}">
                <a16:creationId xmlns:a16="http://schemas.microsoft.com/office/drawing/2014/main" id="{4B8AD484-7725-70F1-E07F-1641401DA144}"/>
              </a:ext>
            </a:extLst>
          </p:cNvPr>
          <p:cNvSpPr>
            <a:spLocks noGrp="1"/>
          </p:cNvSpPr>
          <p:nvPr>
            <p:ph idx="1"/>
          </p:nvPr>
        </p:nvSpPr>
        <p:spPr>
          <a:xfrm>
            <a:off x="664395" y="2101085"/>
            <a:ext cx="10643686" cy="2288035"/>
          </a:xfrm>
        </p:spPr>
        <p:txBody>
          <a:bodyPr>
            <a:normAutofit/>
          </a:bodyPr>
          <a:lstStyle/>
          <a:p>
            <a:pPr algn="just"/>
            <a:r>
              <a:rPr lang="en-US" sz="2000" cap="none" dirty="0">
                <a:latin typeface="Times New Roman" panose="02020603050405020304" pitchFamily="18" charset="0"/>
                <a:cs typeface="Times New Roman" panose="02020603050405020304" pitchFamily="18" charset="0"/>
              </a:rPr>
              <a:t>Also, the Red Boxes in result shows, how efficiently and effectively the model recognizes multiple faces by fetching their names from the database without getting any error and reducing the execution time. The Face Recognition module helps to recognize the human faces using the Webcam rather than the Sensors. It uses the Face Recognition Module which helps to recognize the faces in better way. </a:t>
            </a:r>
            <a:endParaRPr lang="en-US" cap="none" dirty="0">
              <a:latin typeface="Times New Roman" panose="02020603050405020304" pitchFamily="18" charset="0"/>
              <a:cs typeface="Times New Roman" panose="02020603050405020304" pitchFamily="18" charset="0"/>
            </a:endParaRPr>
          </a:p>
          <a:p>
            <a:pPr marL="0" indent="0">
              <a:buNone/>
            </a:pPr>
            <a:endParaRPr lang="en-US" sz="2000" cap="none"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125256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01A70-8406-3E44-11A0-4DF99019B380}"/>
              </a:ext>
            </a:extLst>
          </p:cNvPr>
          <p:cNvSpPr>
            <a:spLocks noGrp="1"/>
          </p:cNvSpPr>
          <p:nvPr>
            <p:ph type="title"/>
          </p:nvPr>
        </p:nvSpPr>
        <p:spPr/>
        <p:txBody>
          <a:bodyPr/>
          <a:lstStyle/>
          <a:p>
            <a:r>
              <a:rPr lang="en-US" dirty="0"/>
              <a:t>Result (Cont.)</a:t>
            </a:r>
            <a:endParaRPr lang="en-IN" dirty="0"/>
          </a:p>
        </p:txBody>
      </p:sp>
      <p:sp>
        <p:nvSpPr>
          <p:cNvPr id="3" name="Content Placeholder 2">
            <a:extLst>
              <a:ext uri="{FF2B5EF4-FFF2-40B4-BE49-F238E27FC236}">
                <a16:creationId xmlns:a16="http://schemas.microsoft.com/office/drawing/2014/main" id="{95770016-8A6F-24F5-D300-46F712097A96}"/>
              </a:ext>
            </a:extLst>
          </p:cNvPr>
          <p:cNvSpPr>
            <a:spLocks noGrp="1"/>
          </p:cNvSpPr>
          <p:nvPr>
            <p:ph idx="1"/>
          </p:nvPr>
        </p:nvSpPr>
        <p:spPr>
          <a:xfrm>
            <a:off x="708725" y="4688378"/>
            <a:ext cx="10631778" cy="1712104"/>
          </a:xfrm>
        </p:spPr>
        <p:txBody>
          <a:bodyPr>
            <a:normAutofit/>
          </a:bodyPr>
          <a:lstStyle/>
          <a:p>
            <a:pPr algn="just"/>
            <a:r>
              <a:rPr lang="en-US" sz="2000" cap="none" dirty="0">
                <a:latin typeface="Times New Roman" panose="02020603050405020304" pitchFamily="18" charset="0"/>
                <a:cs typeface="Times New Roman" panose="02020603050405020304" pitchFamily="18" charset="0"/>
              </a:rPr>
              <a:t>Also, we provide the User Interface (in Figure aside) so that users can add newly detected face in database and also, can update the name of person’s name whose name was entered in a wrong way.</a:t>
            </a:r>
          </a:p>
          <a:p>
            <a:pPr algn="just"/>
            <a:r>
              <a:rPr lang="en-US" cap="none" dirty="0">
                <a:latin typeface="Times New Roman" panose="02020603050405020304" pitchFamily="18" charset="0"/>
                <a:cs typeface="Times New Roman" panose="02020603050405020304" pitchFamily="18" charset="0"/>
              </a:rPr>
              <a:t>The use of User Interface is to make user interaction with model more easier and understandable.</a:t>
            </a:r>
            <a:endParaRPr lang="en-US" sz="2000" cap="none" dirty="0">
              <a:latin typeface="Times New Roman" panose="02020603050405020304" pitchFamily="18" charset="0"/>
              <a:cs typeface="Times New Roman" panose="02020603050405020304" pitchFamily="18" charset="0"/>
            </a:endParaRPr>
          </a:p>
          <a:p>
            <a:endParaRPr lang="en-IN" dirty="0"/>
          </a:p>
        </p:txBody>
      </p:sp>
      <p:pic>
        <p:nvPicPr>
          <p:cNvPr id="4" name="Picture 3">
            <a:extLst>
              <a:ext uri="{FF2B5EF4-FFF2-40B4-BE49-F238E27FC236}">
                <a16:creationId xmlns:a16="http://schemas.microsoft.com/office/drawing/2014/main" id="{2ADC7051-DB61-D50E-A80C-7575556300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8725" y="1387254"/>
            <a:ext cx="4885740" cy="3099229"/>
          </a:xfrm>
          <a:prstGeom prst="rect">
            <a:avLst/>
          </a:prstGeom>
        </p:spPr>
      </p:pic>
      <p:pic>
        <p:nvPicPr>
          <p:cNvPr id="5" name="Picture 4">
            <a:extLst>
              <a:ext uri="{FF2B5EF4-FFF2-40B4-BE49-F238E27FC236}">
                <a16:creationId xmlns:a16="http://schemas.microsoft.com/office/drawing/2014/main" id="{2A020A29-76B0-97A7-A788-407D0630EF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46463" y="1387254"/>
            <a:ext cx="5094040" cy="3099229"/>
          </a:xfrm>
          <a:prstGeom prst="rect">
            <a:avLst/>
          </a:prstGeom>
        </p:spPr>
      </p:pic>
    </p:spTree>
    <p:extLst>
      <p:ext uri="{BB962C8B-B14F-4D97-AF65-F5344CB8AC3E}">
        <p14:creationId xmlns:p14="http://schemas.microsoft.com/office/powerpoint/2010/main" val="3735717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E4596-7325-DF14-74DB-43D54A687E5A}"/>
              </a:ext>
            </a:extLst>
          </p:cNvPr>
          <p:cNvSpPr>
            <a:spLocks noGrp="1"/>
          </p:cNvSpPr>
          <p:nvPr>
            <p:ph type="title"/>
          </p:nvPr>
        </p:nvSpPr>
        <p:spPr>
          <a:xfrm>
            <a:off x="1066800" y="208136"/>
            <a:ext cx="10058400" cy="1188720"/>
          </a:xfrm>
        </p:spPr>
        <p:txBody>
          <a:bodyPr/>
          <a:lstStyle/>
          <a:p>
            <a:r>
              <a:rPr lang="en-US" dirty="0"/>
              <a:t>Test cases: Database</a:t>
            </a:r>
            <a:endParaRPr lang="en-IN" dirty="0"/>
          </a:p>
        </p:txBody>
      </p:sp>
      <p:graphicFrame>
        <p:nvGraphicFramePr>
          <p:cNvPr id="8" name="Content Placeholder 7">
            <a:extLst>
              <a:ext uri="{FF2B5EF4-FFF2-40B4-BE49-F238E27FC236}">
                <a16:creationId xmlns:a16="http://schemas.microsoft.com/office/drawing/2014/main" id="{4D514BF0-1009-89E6-5B50-3E3A39210504}"/>
              </a:ext>
            </a:extLst>
          </p:cNvPr>
          <p:cNvGraphicFramePr>
            <a:graphicFrameLocks noGrp="1"/>
          </p:cNvGraphicFramePr>
          <p:nvPr>
            <p:ph idx="1"/>
            <p:extLst>
              <p:ext uri="{D42A27DB-BD31-4B8C-83A1-F6EECF244321}">
                <p14:modId xmlns:p14="http://schemas.microsoft.com/office/powerpoint/2010/main" val="413165293"/>
              </p:ext>
            </p:extLst>
          </p:nvPr>
        </p:nvGraphicFramePr>
        <p:xfrm>
          <a:off x="532015" y="1255222"/>
          <a:ext cx="11296996" cy="5328459"/>
        </p:xfrm>
        <a:graphic>
          <a:graphicData uri="http://schemas.openxmlformats.org/drawingml/2006/table">
            <a:tbl>
              <a:tblPr firstRow="1" firstCol="1" bandRow="1">
                <a:tableStyleId>{5C22544A-7EE6-4342-B048-85BDC9FD1C3A}</a:tableStyleId>
              </a:tblPr>
              <a:tblGrid>
                <a:gridCol w="1094691">
                  <a:extLst>
                    <a:ext uri="{9D8B030D-6E8A-4147-A177-3AD203B41FA5}">
                      <a16:colId xmlns:a16="http://schemas.microsoft.com/office/drawing/2014/main" val="1443168460"/>
                    </a:ext>
                  </a:extLst>
                </a:gridCol>
                <a:gridCol w="1431433">
                  <a:extLst>
                    <a:ext uri="{9D8B030D-6E8A-4147-A177-3AD203B41FA5}">
                      <a16:colId xmlns:a16="http://schemas.microsoft.com/office/drawing/2014/main" val="81688163"/>
                    </a:ext>
                  </a:extLst>
                </a:gridCol>
                <a:gridCol w="1369199">
                  <a:extLst>
                    <a:ext uri="{9D8B030D-6E8A-4147-A177-3AD203B41FA5}">
                      <a16:colId xmlns:a16="http://schemas.microsoft.com/office/drawing/2014/main" val="910990944"/>
                    </a:ext>
                  </a:extLst>
                </a:gridCol>
                <a:gridCol w="1900432">
                  <a:extLst>
                    <a:ext uri="{9D8B030D-6E8A-4147-A177-3AD203B41FA5}">
                      <a16:colId xmlns:a16="http://schemas.microsoft.com/office/drawing/2014/main" val="1260088528"/>
                    </a:ext>
                  </a:extLst>
                </a:gridCol>
                <a:gridCol w="1600364">
                  <a:extLst>
                    <a:ext uri="{9D8B030D-6E8A-4147-A177-3AD203B41FA5}">
                      <a16:colId xmlns:a16="http://schemas.microsoft.com/office/drawing/2014/main" val="4168412101"/>
                    </a:ext>
                  </a:extLst>
                </a:gridCol>
                <a:gridCol w="1300290">
                  <a:extLst>
                    <a:ext uri="{9D8B030D-6E8A-4147-A177-3AD203B41FA5}">
                      <a16:colId xmlns:a16="http://schemas.microsoft.com/office/drawing/2014/main" val="1036626928"/>
                    </a:ext>
                  </a:extLst>
                </a:gridCol>
                <a:gridCol w="1600364">
                  <a:extLst>
                    <a:ext uri="{9D8B030D-6E8A-4147-A177-3AD203B41FA5}">
                      <a16:colId xmlns:a16="http://schemas.microsoft.com/office/drawing/2014/main" val="786518300"/>
                    </a:ext>
                  </a:extLst>
                </a:gridCol>
                <a:gridCol w="1000223">
                  <a:extLst>
                    <a:ext uri="{9D8B030D-6E8A-4147-A177-3AD203B41FA5}">
                      <a16:colId xmlns:a16="http://schemas.microsoft.com/office/drawing/2014/main" val="1282405615"/>
                    </a:ext>
                  </a:extLst>
                </a:gridCol>
              </a:tblGrid>
              <a:tr h="385381">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TC_ID</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1954" marR="21954"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Test Case Objective</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1954" marR="21954"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Pre-requisites</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1954" marR="21954"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Steps</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1954" marR="21954"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Input</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1954" marR="21954"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Expected Result</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1954" marR="21954"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Actual Result</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1954" marR="21954"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Status</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1954" marR="21954" marT="0" marB="0"/>
                </a:tc>
                <a:extLst>
                  <a:ext uri="{0D108BD9-81ED-4DB2-BD59-A6C34878D82A}">
                    <a16:rowId xmlns:a16="http://schemas.microsoft.com/office/drawing/2014/main" val="1320500758"/>
                  </a:ext>
                </a:extLst>
              </a:tr>
              <a:tr h="775127">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TC_01</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1954" marR="21954"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To check the database is accessing or not</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1954" marR="21954"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“imaged” database should be available </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1954" marR="21954"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Connect to database using MySQL connector</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1954" marR="21954"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(‘localhost”,”root”, “”, “ImageDB”)</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1954" marR="21954"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Database must be accessed </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1954" marR="21954"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Database connection accessed</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1954" marR="21954"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Pass</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1954" marR="21954" marT="0" marB="0"/>
                </a:tc>
                <a:extLst>
                  <a:ext uri="{0D108BD9-81ED-4DB2-BD59-A6C34878D82A}">
                    <a16:rowId xmlns:a16="http://schemas.microsoft.com/office/drawing/2014/main" val="2636002887"/>
                  </a:ext>
                </a:extLst>
              </a:tr>
              <a:tr h="677692">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TC_02</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1954" marR="21954"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Inserting data into unknown table</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1954" marR="21954"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Unknown table should be available</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1954" marR="21954"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Add face encodings and image file name into unknown table </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1954" marR="21954"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(face_enc, Img_name)</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1954" marR="21954"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Data must be inserted </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1954" marR="21954"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Data inserted successfully</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1954" marR="21954"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Pass</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1954" marR="21954" marT="0" marB="0"/>
                </a:tc>
                <a:extLst>
                  <a:ext uri="{0D108BD9-81ED-4DB2-BD59-A6C34878D82A}">
                    <a16:rowId xmlns:a16="http://schemas.microsoft.com/office/drawing/2014/main" val="2384511497"/>
                  </a:ext>
                </a:extLst>
              </a:tr>
              <a:tr h="677692">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TC_03</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1954" marR="21954"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Fetching data from unknown table</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1954" marR="21954"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Unknown table should be available</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1954" marR="21954" marT="0" marB="0"/>
                </a:tc>
                <a:tc>
                  <a:txBody>
                    <a:bodyPr/>
                    <a:lstStyle/>
                    <a:p>
                      <a:pPr marL="0" marR="0" algn="ctr">
                        <a:lnSpc>
                          <a:spcPct val="107000"/>
                        </a:lnSpc>
                        <a:spcBef>
                          <a:spcPts val="0"/>
                        </a:spcBef>
                        <a:spcAft>
                          <a:spcPts val="0"/>
                        </a:spcAft>
                      </a:pPr>
                      <a:r>
                        <a:rPr lang="en-US" sz="1200" kern="100" dirty="0">
                          <a:effectLst/>
                          <a:latin typeface="Times New Roman" panose="02020603050405020304" pitchFamily="18" charset="0"/>
                          <a:cs typeface="Times New Roman" panose="02020603050405020304" pitchFamily="18" charset="0"/>
                        </a:rPr>
                        <a:t>Fetch data from unknown table using MySQL DML select query</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1954" marR="21954"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Select face_enc and name from unknown</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1954" marR="21954"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Data should be fetched</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1954" marR="21954"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Data fetched successfully</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1954" marR="21954"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Pass</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1954" marR="21954" marT="0" marB="0"/>
                </a:tc>
                <a:extLst>
                  <a:ext uri="{0D108BD9-81ED-4DB2-BD59-A6C34878D82A}">
                    <a16:rowId xmlns:a16="http://schemas.microsoft.com/office/drawing/2014/main" val="1361002009"/>
                  </a:ext>
                </a:extLst>
              </a:tr>
              <a:tr h="677692">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TC_04</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1954" marR="21954"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Inserting data into known table</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1954" marR="21954"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Known table should be available</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1954" marR="21954"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Add face encoding from unknown table and person’s name</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1954" marR="21954"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(face_enc, name)</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1954" marR="21954"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Data must be inserted</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1954" marR="21954"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Data insert successfully</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1954" marR="21954"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Pass</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1954" marR="21954" marT="0" marB="0"/>
                </a:tc>
                <a:extLst>
                  <a:ext uri="{0D108BD9-81ED-4DB2-BD59-A6C34878D82A}">
                    <a16:rowId xmlns:a16="http://schemas.microsoft.com/office/drawing/2014/main" val="4253333365"/>
                  </a:ext>
                </a:extLst>
              </a:tr>
              <a:tr h="1457183">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TC_05</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1954" marR="21954"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After successfully insertion of data in known table data from unknown table should be deleted</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1954" marR="21954"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Known and unknown table should be available</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1954" marR="21954"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Delete data from unknown table after successful insertion of data from unknown to known table</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1954" marR="21954"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Delete all from unknown where img_name = current_img_name</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1954" marR="21954"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Data should be deleted </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1954" marR="21954"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Data deleted successful</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1954" marR="21954"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Pass</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1954" marR="21954" marT="0" marB="0"/>
                </a:tc>
                <a:extLst>
                  <a:ext uri="{0D108BD9-81ED-4DB2-BD59-A6C34878D82A}">
                    <a16:rowId xmlns:a16="http://schemas.microsoft.com/office/drawing/2014/main" val="1042580865"/>
                  </a:ext>
                </a:extLst>
              </a:tr>
              <a:tr h="677692">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TC_06</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1954" marR="21954"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Fetching data from known table </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1954" marR="21954"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Known table should be available</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1954" marR="21954"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Fetch data from known table using MySQL DML select query</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1954" marR="21954"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Select face_enc and person’s name from known</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1954" marR="21954"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Data should be fetched</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1954" marR="21954"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Data fetched successfully</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1954" marR="21954" marT="0" marB="0"/>
                </a:tc>
                <a:tc>
                  <a:txBody>
                    <a:bodyPr/>
                    <a:lstStyle/>
                    <a:p>
                      <a:pPr marL="0" marR="0" algn="ctr">
                        <a:lnSpc>
                          <a:spcPct val="107000"/>
                        </a:lnSpc>
                        <a:spcBef>
                          <a:spcPts val="0"/>
                        </a:spcBef>
                        <a:spcAft>
                          <a:spcPts val="0"/>
                        </a:spcAft>
                      </a:pPr>
                      <a:r>
                        <a:rPr lang="en-US" sz="1200" kern="100" dirty="0">
                          <a:effectLst/>
                          <a:latin typeface="Times New Roman" panose="02020603050405020304" pitchFamily="18" charset="0"/>
                          <a:cs typeface="Times New Roman" panose="02020603050405020304" pitchFamily="18" charset="0"/>
                        </a:rPr>
                        <a:t>Pass</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1954" marR="21954" marT="0" marB="0"/>
                </a:tc>
                <a:extLst>
                  <a:ext uri="{0D108BD9-81ED-4DB2-BD59-A6C34878D82A}">
                    <a16:rowId xmlns:a16="http://schemas.microsoft.com/office/drawing/2014/main" val="1326742198"/>
                  </a:ext>
                </a:extLst>
              </a:tr>
            </a:tbl>
          </a:graphicData>
        </a:graphic>
      </p:graphicFrame>
    </p:spTree>
    <p:extLst>
      <p:ext uri="{BB962C8B-B14F-4D97-AF65-F5344CB8AC3E}">
        <p14:creationId xmlns:p14="http://schemas.microsoft.com/office/powerpoint/2010/main" val="11704924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E4674-6E6D-C113-2A3A-B51E29032D66}"/>
              </a:ext>
            </a:extLst>
          </p:cNvPr>
          <p:cNvSpPr>
            <a:spLocks noGrp="1"/>
          </p:cNvSpPr>
          <p:nvPr>
            <p:ph type="title"/>
          </p:nvPr>
        </p:nvSpPr>
        <p:spPr/>
        <p:txBody>
          <a:bodyPr/>
          <a:lstStyle/>
          <a:p>
            <a:r>
              <a:rPr lang="en-US" dirty="0"/>
              <a:t>Test </a:t>
            </a:r>
            <a:r>
              <a:rPr lang="en-US" dirty="0" err="1"/>
              <a:t>caese</a:t>
            </a:r>
            <a:r>
              <a:rPr lang="en-US" dirty="0"/>
              <a:t>: webcam</a:t>
            </a:r>
            <a:endParaRPr lang="en-IN" dirty="0"/>
          </a:p>
        </p:txBody>
      </p:sp>
      <p:graphicFrame>
        <p:nvGraphicFramePr>
          <p:cNvPr id="4" name="Content Placeholder 3">
            <a:extLst>
              <a:ext uri="{FF2B5EF4-FFF2-40B4-BE49-F238E27FC236}">
                <a16:creationId xmlns:a16="http://schemas.microsoft.com/office/drawing/2014/main" id="{A0DC4B25-81CD-CE24-E764-18CFEEE3755D}"/>
              </a:ext>
            </a:extLst>
          </p:cNvPr>
          <p:cNvGraphicFramePr>
            <a:graphicFrameLocks noGrp="1"/>
          </p:cNvGraphicFramePr>
          <p:nvPr>
            <p:ph idx="1"/>
            <p:extLst>
              <p:ext uri="{D42A27DB-BD31-4B8C-83A1-F6EECF244321}">
                <p14:modId xmlns:p14="http://schemas.microsoft.com/office/powerpoint/2010/main" val="2119930012"/>
              </p:ext>
            </p:extLst>
          </p:nvPr>
        </p:nvGraphicFramePr>
        <p:xfrm>
          <a:off x="440575" y="1363287"/>
          <a:ext cx="11330248" cy="5170516"/>
        </p:xfrm>
        <a:graphic>
          <a:graphicData uri="http://schemas.openxmlformats.org/drawingml/2006/table">
            <a:tbl>
              <a:tblPr firstRow="1" firstCol="1" bandRow="1">
                <a:tableStyleId>{5C22544A-7EE6-4342-B048-85BDC9FD1C3A}</a:tableStyleId>
              </a:tblPr>
              <a:tblGrid>
                <a:gridCol w="1117706">
                  <a:extLst>
                    <a:ext uri="{9D8B030D-6E8A-4147-A177-3AD203B41FA5}">
                      <a16:colId xmlns:a16="http://schemas.microsoft.com/office/drawing/2014/main" val="1292706684"/>
                    </a:ext>
                  </a:extLst>
                </a:gridCol>
                <a:gridCol w="1531880">
                  <a:extLst>
                    <a:ext uri="{9D8B030D-6E8A-4147-A177-3AD203B41FA5}">
                      <a16:colId xmlns:a16="http://schemas.microsoft.com/office/drawing/2014/main" val="849253046"/>
                    </a:ext>
                  </a:extLst>
                </a:gridCol>
                <a:gridCol w="1429758">
                  <a:extLst>
                    <a:ext uri="{9D8B030D-6E8A-4147-A177-3AD203B41FA5}">
                      <a16:colId xmlns:a16="http://schemas.microsoft.com/office/drawing/2014/main" val="2615754176"/>
                    </a:ext>
                  </a:extLst>
                </a:gridCol>
                <a:gridCol w="1838260">
                  <a:extLst>
                    <a:ext uri="{9D8B030D-6E8A-4147-A177-3AD203B41FA5}">
                      <a16:colId xmlns:a16="http://schemas.microsoft.com/office/drawing/2014/main" val="3413377575"/>
                    </a:ext>
                  </a:extLst>
                </a:gridCol>
                <a:gridCol w="1021254">
                  <a:extLst>
                    <a:ext uri="{9D8B030D-6E8A-4147-A177-3AD203B41FA5}">
                      <a16:colId xmlns:a16="http://schemas.microsoft.com/office/drawing/2014/main" val="3717432093"/>
                    </a:ext>
                  </a:extLst>
                </a:gridCol>
                <a:gridCol w="1940382">
                  <a:extLst>
                    <a:ext uri="{9D8B030D-6E8A-4147-A177-3AD203B41FA5}">
                      <a16:colId xmlns:a16="http://schemas.microsoft.com/office/drawing/2014/main" val="661331173"/>
                    </a:ext>
                  </a:extLst>
                </a:gridCol>
                <a:gridCol w="1531880">
                  <a:extLst>
                    <a:ext uri="{9D8B030D-6E8A-4147-A177-3AD203B41FA5}">
                      <a16:colId xmlns:a16="http://schemas.microsoft.com/office/drawing/2014/main" val="3304270395"/>
                    </a:ext>
                  </a:extLst>
                </a:gridCol>
                <a:gridCol w="919128">
                  <a:extLst>
                    <a:ext uri="{9D8B030D-6E8A-4147-A177-3AD203B41FA5}">
                      <a16:colId xmlns:a16="http://schemas.microsoft.com/office/drawing/2014/main" val="1285080389"/>
                    </a:ext>
                  </a:extLst>
                </a:gridCol>
              </a:tblGrid>
              <a:tr h="685435">
                <a:tc>
                  <a:txBody>
                    <a:bodyPr/>
                    <a:lstStyle/>
                    <a:p>
                      <a:pPr marL="0" marR="0" algn="ctr">
                        <a:lnSpc>
                          <a:spcPct val="107000"/>
                        </a:lnSpc>
                        <a:spcBef>
                          <a:spcPts val="0"/>
                        </a:spcBef>
                        <a:spcAft>
                          <a:spcPts val="0"/>
                        </a:spcAft>
                      </a:pPr>
                      <a:r>
                        <a:rPr lang="en-US" sz="1600" kern="100" dirty="0">
                          <a:effectLst/>
                          <a:latin typeface="Times New Roman" panose="02020603050405020304" pitchFamily="18" charset="0"/>
                          <a:cs typeface="Times New Roman" panose="02020603050405020304" pitchFamily="18" charset="0"/>
                        </a:rPr>
                        <a:t>TC_ID</a:t>
                      </a:r>
                      <a:endParaRPr lang="en-IN"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0261" marR="40261" marT="0" marB="0"/>
                </a:tc>
                <a:tc>
                  <a:txBody>
                    <a:bodyPr/>
                    <a:lstStyle/>
                    <a:p>
                      <a:pPr marL="0" marR="0" algn="ctr">
                        <a:lnSpc>
                          <a:spcPct val="107000"/>
                        </a:lnSpc>
                        <a:spcBef>
                          <a:spcPts val="0"/>
                        </a:spcBef>
                        <a:spcAft>
                          <a:spcPts val="0"/>
                        </a:spcAft>
                      </a:pPr>
                      <a:r>
                        <a:rPr lang="en-US" sz="1600" kern="100">
                          <a:effectLst/>
                          <a:latin typeface="Times New Roman" panose="02020603050405020304" pitchFamily="18" charset="0"/>
                          <a:cs typeface="Times New Roman" panose="02020603050405020304" pitchFamily="18" charset="0"/>
                        </a:rPr>
                        <a:t>Test Case Objective</a:t>
                      </a:r>
                      <a:endParaRPr lang="en-IN"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0261" marR="40261" marT="0" marB="0"/>
                </a:tc>
                <a:tc>
                  <a:txBody>
                    <a:bodyPr/>
                    <a:lstStyle/>
                    <a:p>
                      <a:pPr marL="0" marR="0" algn="ctr">
                        <a:lnSpc>
                          <a:spcPct val="107000"/>
                        </a:lnSpc>
                        <a:spcBef>
                          <a:spcPts val="0"/>
                        </a:spcBef>
                        <a:spcAft>
                          <a:spcPts val="0"/>
                        </a:spcAft>
                      </a:pPr>
                      <a:r>
                        <a:rPr lang="en-US" sz="1600" kern="100">
                          <a:effectLst/>
                          <a:latin typeface="Times New Roman" panose="02020603050405020304" pitchFamily="18" charset="0"/>
                          <a:cs typeface="Times New Roman" panose="02020603050405020304" pitchFamily="18" charset="0"/>
                        </a:rPr>
                        <a:t>Pre-requisites</a:t>
                      </a:r>
                      <a:endParaRPr lang="en-IN"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0261" marR="40261" marT="0" marB="0"/>
                </a:tc>
                <a:tc>
                  <a:txBody>
                    <a:bodyPr/>
                    <a:lstStyle/>
                    <a:p>
                      <a:pPr marL="0" marR="0" algn="ctr">
                        <a:lnSpc>
                          <a:spcPct val="107000"/>
                        </a:lnSpc>
                        <a:spcBef>
                          <a:spcPts val="0"/>
                        </a:spcBef>
                        <a:spcAft>
                          <a:spcPts val="0"/>
                        </a:spcAft>
                      </a:pPr>
                      <a:r>
                        <a:rPr lang="en-US" sz="1600" kern="100">
                          <a:effectLst/>
                          <a:latin typeface="Times New Roman" panose="02020603050405020304" pitchFamily="18" charset="0"/>
                          <a:cs typeface="Times New Roman" panose="02020603050405020304" pitchFamily="18" charset="0"/>
                        </a:rPr>
                        <a:t>Steps</a:t>
                      </a:r>
                      <a:endParaRPr lang="en-IN"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0261" marR="40261" marT="0" marB="0"/>
                </a:tc>
                <a:tc>
                  <a:txBody>
                    <a:bodyPr/>
                    <a:lstStyle/>
                    <a:p>
                      <a:pPr marL="0" marR="0" algn="ctr">
                        <a:lnSpc>
                          <a:spcPct val="107000"/>
                        </a:lnSpc>
                        <a:spcBef>
                          <a:spcPts val="0"/>
                        </a:spcBef>
                        <a:spcAft>
                          <a:spcPts val="0"/>
                        </a:spcAft>
                      </a:pPr>
                      <a:r>
                        <a:rPr lang="en-US" sz="1600" kern="100">
                          <a:effectLst/>
                          <a:latin typeface="Times New Roman" panose="02020603050405020304" pitchFamily="18" charset="0"/>
                          <a:cs typeface="Times New Roman" panose="02020603050405020304" pitchFamily="18" charset="0"/>
                        </a:rPr>
                        <a:t>Input</a:t>
                      </a:r>
                      <a:endParaRPr lang="en-IN"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0261" marR="40261" marT="0" marB="0"/>
                </a:tc>
                <a:tc>
                  <a:txBody>
                    <a:bodyPr/>
                    <a:lstStyle/>
                    <a:p>
                      <a:pPr marL="0" marR="0" algn="ctr">
                        <a:lnSpc>
                          <a:spcPct val="107000"/>
                        </a:lnSpc>
                        <a:spcBef>
                          <a:spcPts val="0"/>
                        </a:spcBef>
                        <a:spcAft>
                          <a:spcPts val="0"/>
                        </a:spcAft>
                      </a:pPr>
                      <a:r>
                        <a:rPr lang="en-US" sz="1600" kern="100">
                          <a:effectLst/>
                          <a:latin typeface="Times New Roman" panose="02020603050405020304" pitchFamily="18" charset="0"/>
                          <a:cs typeface="Times New Roman" panose="02020603050405020304" pitchFamily="18" charset="0"/>
                        </a:rPr>
                        <a:t>Expected Result</a:t>
                      </a:r>
                      <a:endParaRPr lang="en-IN"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0261" marR="40261" marT="0" marB="0"/>
                </a:tc>
                <a:tc>
                  <a:txBody>
                    <a:bodyPr/>
                    <a:lstStyle/>
                    <a:p>
                      <a:pPr marL="0" marR="0" algn="ctr">
                        <a:lnSpc>
                          <a:spcPct val="107000"/>
                        </a:lnSpc>
                        <a:spcBef>
                          <a:spcPts val="0"/>
                        </a:spcBef>
                        <a:spcAft>
                          <a:spcPts val="0"/>
                        </a:spcAft>
                      </a:pPr>
                      <a:r>
                        <a:rPr lang="en-US" sz="1600" kern="100">
                          <a:effectLst/>
                          <a:latin typeface="Times New Roman" panose="02020603050405020304" pitchFamily="18" charset="0"/>
                          <a:cs typeface="Times New Roman" panose="02020603050405020304" pitchFamily="18" charset="0"/>
                        </a:rPr>
                        <a:t>Actual Result</a:t>
                      </a:r>
                      <a:endParaRPr lang="en-IN"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0261" marR="40261" marT="0" marB="0"/>
                </a:tc>
                <a:tc>
                  <a:txBody>
                    <a:bodyPr/>
                    <a:lstStyle/>
                    <a:p>
                      <a:pPr marL="0" marR="0" algn="ctr">
                        <a:lnSpc>
                          <a:spcPct val="107000"/>
                        </a:lnSpc>
                        <a:spcBef>
                          <a:spcPts val="0"/>
                        </a:spcBef>
                        <a:spcAft>
                          <a:spcPts val="0"/>
                        </a:spcAft>
                      </a:pPr>
                      <a:r>
                        <a:rPr lang="en-US" sz="1600" kern="100">
                          <a:effectLst/>
                          <a:latin typeface="Times New Roman" panose="02020603050405020304" pitchFamily="18" charset="0"/>
                          <a:cs typeface="Times New Roman" panose="02020603050405020304" pitchFamily="18" charset="0"/>
                        </a:rPr>
                        <a:t>Status</a:t>
                      </a:r>
                      <a:endParaRPr lang="en-IN"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0261" marR="40261" marT="0" marB="0"/>
                </a:tc>
                <a:extLst>
                  <a:ext uri="{0D108BD9-81ED-4DB2-BD59-A6C34878D82A}">
                    <a16:rowId xmlns:a16="http://schemas.microsoft.com/office/drawing/2014/main" val="254161039"/>
                  </a:ext>
                </a:extLst>
              </a:tr>
              <a:tr h="1379371">
                <a:tc>
                  <a:txBody>
                    <a:bodyPr/>
                    <a:lstStyle/>
                    <a:p>
                      <a:pPr marL="0" marR="0" algn="ctr">
                        <a:lnSpc>
                          <a:spcPct val="107000"/>
                        </a:lnSpc>
                        <a:spcBef>
                          <a:spcPts val="0"/>
                        </a:spcBef>
                        <a:spcAft>
                          <a:spcPts val="0"/>
                        </a:spcAft>
                      </a:pPr>
                      <a:r>
                        <a:rPr lang="en-US" sz="1600" kern="100" dirty="0">
                          <a:effectLst/>
                          <a:latin typeface="Times New Roman" panose="02020603050405020304" pitchFamily="18" charset="0"/>
                          <a:cs typeface="Times New Roman" panose="02020603050405020304" pitchFamily="18" charset="0"/>
                        </a:rPr>
                        <a:t>TC_01</a:t>
                      </a:r>
                      <a:endParaRPr lang="en-IN"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0261" marR="40261" marT="0" marB="0"/>
                </a:tc>
                <a:tc>
                  <a:txBody>
                    <a:bodyPr/>
                    <a:lstStyle/>
                    <a:p>
                      <a:pPr marL="0" marR="0" algn="ctr">
                        <a:lnSpc>
                          <a:spcPct val="107000"/>
                        </a:lnSpc>
                        <a:spcBef>
                          <a:spcPts val="0"/>
                        </a:spcBef>
                        <a:spcAft>
                          <a:spcPts val="0"/>
                        </a:spcAft>
                      </a:pPr>
                      <a:r>
                        <a:rPr lang="en-US" sz="1600" kern="100" dirty="0">
                          <a:effectLst/>
                          <a:latin typeface="Times New Roman" panose="02020603050405020304" pitchFamily="18" charset="0"/>
                          <a:cs typeface="Times New Roman" panose="02020603050405020304" pitchFamily="18" charset="0"/>
                        </a:rPr>
                        <a:t>On start of the model the Webcam should be accessed</a:t>
                      </a:r>
                      <a:endParaRPr lang="en-IN"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0261" marR="40261" marT="0" marB="0"/>
                </a:tc>
                <a:tc>
                  <a:txBody>
                    <a:bodyPr/>
                    <a:lstStyle/>
                    <a:p>
                      <a:pPr marL="0" marR="0" algn="ctr">
                        <a:lnSpc>
                          <a:spcPct val="107000"/>
                        </a:lnSpc>
                        <a:spcBef>
                          <a:spcPts val="0"/>
                        </a:spcBef>
                        <a:spcAft>
                          <a:spcPts val="0"/>
                        </a:spcAft>
                      </a:pPr>
                      <a:r>
                        <a:rPr lang="en-US" sz="1600" kern="100" dirty="0">
                          <a:effectLst/>
                          <a:latin typeface="Times New Roman" panose="02020603050405020304" pitchFamily="18" charset="0"/>
                          <a:cs typeface="Times New Roman" panose="02020603050405020304" pitchFamily="18" charset="0"/>
                        </a:rPr>
                        <a:t>System’s Webcam should be available</a:t>
                      </a:r>
                      <a:endParaRPr lang="en-IN"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0261" marR="40261" marT="0" marB="0"/>
                </a:tc>
                <a:tc>
                  <a:txBody>
                    <a:bodyPr/>
                    <a:lstStyle/>
                    <a:p>
                      <a:pPr marL="0" marR="0" algn="ctr">
                        <a:lnSpc>
                          <a:spcPct val="107000"/>
                        </a:lnSpc>
                        <a:spcBef>
                          <a:spcPts val="0"/>
                        </a:spcBef>
                        <a:spcAft>
                          <a:spcPts val="0"/>
                        </a:spcAft>
                      </a:pPr>
                      <a:r>
                        <a:rPr lang="en-US" sz="1600" kern="100" dirty="0">
                          <a:effectLst/>
                          <a:latin typeface="Times New Roman" panose="02020603050405020304" pitchFamily="18" charset="0"/>
                          <a:cs typeface="Times New Roman" panose="02020603050405020304" pitchFamily="18" charset="0"/>
                        </a:rPr>
                        <a:t>Access the system Webcam when model start</a:t>
                      </a:r>
                      <a:endParaRPr lang="en-IN"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0261" marR="40261" marT="0" marB="0"/>
                </a:tc>
                <a:tc>
                  <a:txBody>
                    <a:bodyPr/>
                    <a:lstStyle/>
                    <a:p>
                      <a:pPr marL="0" marR="0" algn="ctr">
                        <a:lnSpc>
                          <a:spcPct val="107000"/>
                        </a:lnSpc>
                        <a:spcBef>
                          <a:spcPts val="0"/>
                        </a:spcBef>
                        <a:spcAft>
                          <a:spcPts val="0"/>
                        </a:spcAft>
                      </a:pPr>
                      <a:r>
                        <a:rPr lang="en-US" sz="1600" kern="100">
                          <a:effectLst/>
                          <a:latin typeface="Times New Roman" panose="02020603050405020304" pitchFamily="18" charset="0"/>
                          <a:cs typeface="Times New Roman" panose="02020603050405020304" pitchFamily="18" charset="0"/>
                        </a:rPr>
                        <a:t>NA</a:t>
                      </a:r>
                      <a:endParaRPr lang="en-IN"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0261" marR="40261" marT="0" marB="0"/>
                </a:tc>
                <a:tc>
                  <a:txBody>
                    <a:bodyPr/>
                    <a:lstStyle/>
                    <a:p>
                      <a:pPr marL="0" marR="0" algn="ctr">
                        <a:lnSpc>
                          <a:spcPct val="107000"/>
                        </a:lnSpc>
                        <a:spcBef>
                          <a:spcPts val="0"/>
                        </a:spcBef>
                        <a:spcAft>
                          <a:spcPts val="0"/>
                        </a:spcAft>
                      </a:pPr>
                      <a:r>
                        <a:rPr lang="en-US" sz="1600" kern="100">
                          <a:effectLst/>
                          <a:latin typeface="Times New Roman" panose="02020603050405020304" pitchFamily="18" charset="0"/>
                          <a:cs typeface="Times New Roman" panose="02020603050405020304" pitchFamily="18" charset="0"/>
                        </a:rPr>
                        <a:t>System’s Webcam must be accessed</a:t>
                      </a:r>
                      <a:endParaRPr lang="en-IN"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0261" marR="40261" marT="0" marB="0"/>
                </a:tc>
                <a:tc>
                  <a:txBody>
                    <a:bodyPr/>
                    <a:lstStyle/>
                    <a:p>
                      <a:pPr marL="0" marR="0" algn="ctr">
                        <a:lnSpc>
                          <a:spcPct val="107000"/>
                        </a:lnSpc>
                        <a:spcBef>
                          <a:spcPts val="0"/>
                        </a:spcBef>
                        <a:spcAft>
                          <a:spcPts val="0"/>
                        </a:spcAft>
                      </a:pPr>
                      <a:r>
                        <a:rPr lang="en-US" sz="1600" kern="100">
                          <a:effectLst/>
                          <a:latin typeface="Times New Roman" panose="02020603050405020304" pitchFamily="18" charset="0"/>
                          <a:cs typeface="Times New Roman" panose="02020603050405020304" pitchFamily="18" charset="0"/>
                        </a:rPr>
                        <a:t>System’s Webcam accessed successfully</a:t>
                      </a:r>
                      <a:endParaRPr lang="en-IN"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0261" marR="40261" marT="0" marB="0"/>
                </a:tc>
                <a:tc>
                  <a:txBody>
                    <a:bodyPr/>
                    <a:lstStyle/>
                    <a:p>
                      <a:pPr marL="0" marR="0" algn="ctr">
                        <a:lnSpc>
                          <a:spcPct val="107000"/>
                        </a:lnSpc>
                        <a:spcBef>
                          <a:spcPts val="0"/>
                        </a:spcBef>
                        <a:spcAft>
                          <a:spcPts val="0"/>
                        </a:spcAft>
                      </a:pPr>
                      <a:r>
                        <a:rPr lang="en-US" sz="1600" kern="100">
                          <a:effectLst/>
                          <a:latin typeface="Times New Roman" panose="02020603050405020304" pitchFamily="18" charset="0"/>
                          <a:cs typeface="Times New Roman" panose="02020603050405020304" pitchFamily="18" charset="0"/>
                        </a:rPr>
                        <a:t>Pass</a:t>
                      </a:r>
                      <a:endParaRPr lang="en-IN"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0261" marR="40261" marT="0" marB="0"/>
                </a:tc>
                <a:extLst>
                  <a:ext uri="{0D108BD9-81ED-4DB2-BD59-A6C34878D82A}">
                    <a16:rowId xmlns:a16="http://schemas.microsoft.com/office/drawing/2014/main" val="1618157478"/>
                  </a:ext>
                </a:extLst>
              </a:tr>
              <a:tr h="1552855">
                <a:tc>
                  <a:txBody>
                    <a:bodyPr/>
                    <a:lstStyle/>
                    <a:p>
                      <a:pPr marL="0" marR="0" algn="ctr">
                        <a:lnSpc>
                          <a:spcPct val="107000"/>
                        </a:lnSpc>
                        <a:spcBef>
                          <a:spcPts val="0"/>
                        </a:spcBef>
                        <a:spcAft>
                          <a:spcPts val="0"/>
                        </a:spcAft>
                      </a:pPr>
                      <a:r>
                        <a:rPr lang="en-US" sz="1600" kern="100">
                          <a:effectLst/>
                          <a:latin typeface="Times New Roman" panose="02020603050405020304" pitchFamily="18" charset="0"/>
                          <a:cs typeface="Times New Roman" panose="02020603050405020304" pitchFamily="18" charset="0"/>
                        </a:rPr>
                        <a:t>TC_02</a:t>
                      </a:r>
                      <a:endParaRPr lang="en-IN"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0261" marR="40261" marT="0" marB="0"/>
                </a:tc>
                <a:tc>
                  <a:txBody>
                    <a:bodyPr/>
                    <a:lstStyle/>
                    <a:p>
                      <a:pPr marL="0" marR="0" algn="ctr">
                        <a:lnSpc>
                          <a:spcPct val="107000"/>
                        </a:lnSpc>
                        <a:spcBef>
                          <a:spcPts val="0"/>
                        </a:spcBef>
                        <a:spcAft>
                          <a:spcPts val="0"/>
                        </a:spcAft>
                      </a:pPr>
                      <a:r>
                        <a:rPr lang="en-US" sz="1600" kern="100">
                          <a:effectLst/>
                          <a:latin typeface="Times New Roman" panose="02020603050405020304" pitchFamily="18" charset="0"/>
                          <a:cs typeface="Times New Roman" panose="02020603050405020304" pitchFamily="18" charset="0"/>
                        </a:rPr>
                        <a:t>Webcam should capture the live video stream</a:t>
                      </a:r>
                      <a:endParaRPr lang="en-IN"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0261" marR="40261" marT="0" marB="0"/>
                </a:tc>
                <a:tc>
                  <a:txBody>
                    <a:bodyPr/>
                    <a:lstStyle/>
                    <a:p>
                      <a:pPr marL="0" marR="0" algn="ctr">
                        <a:lnSpc>
                          <a:spcPct val="107000"/>
                        </a:lnSpc>
                        <a:spcBef>
                          <a:spcPts val="0"/>
                        </a:spcBef>
                        <a:spcAft>
                          <a:spcPts val="0"/>
                        </a:spcAft>
                      </a:pPr>
                      <a:r>
                        <a:rPr lang="en-US" sz="1600" kern="100">
                          <a:effectLst/>
                          <a:latin typeface="Times New Roman" panose="02020603050405020304" pitchFamily="18" charset="0"/>
                          <a:cs typeface="Times New Roman" panose="02020603050405020304" pitchFamily="18" charset="0"/>
                        </a:rPr>
                        <a:t>Webcam should be available and must be accessible</a:t>
                      </a:r>
                      <a:endParaRPr lang="en-IN"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0261" marR="40261" marT="0" marB="0"/>
                </a:tc>
                <a:tc>
                  <a:txBody>
                    <a:bodyPr/>
                    <a:lstStyle/>
                    <a:p>
                      <a:pPr marL="0" marR="0" algn="ctr">
                        <a:lnSpc>
                          <a:spcPct val="107000"/>
                        </a:lnSpc>
                        <a:spcBef>
                          <a:spcPts val="0"/>
                        </a:spcBef>
                        <a:spcAft>
                          <a:spcPts val="0"/>
                        </a:spcAft>
                      </a:pPr>
                      <a:r>
                        <a:rPr lang="en-US" sz="1600" kern="100" dirty="0">
                          <a:effectLst/>
                          <a:latin typeface="Times New Roman" panose="02020603050405020304" pitchFamily="18" charset="0"/>
                          <a:cs typeface="Times New Roman" panose="02020603050405020304" pitchFamily="18" charset="0"/>
                        </a:rPr>
                        <a:t>Start live video stream using Webcam</a:t>
                      </a:r>
                      <a:endParaRPr lang="en-IN"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0261" marR="40261" marT="0" marB="0"/>
                </a:tc>
                <a:tc>
                  <a:txBody>
                    <a:bodyPr/>
                    <a:lstStyle/>
                    <a:p>
                      <a:pPr marL="0" marR="0" algn="ctr">
                        <a:lnSpc>
                          <a:spcPct val="107000"/>
                        </a:lnSpc>
                        <a:spcBef>
                          <a:spcPts val="0"/>
                        </a:spcBef>
                        <a:spcAft>
                          <a:spcPts val="0"/>
                        </a:spcAft>
                      </a:pPr>
                      <a:r>
                        <a:rPr lang="en-US" sz="1600" kern="100" dirty="0">
                          <a:effectLst/>
                          <a:latin typeface="Times New Roman" panose="02020603050405020304" pitchFamily="18" charset="0"/>
                          <a:cs typeface="Times New Roman" panose="02020603050405020304" pitchFamily="18" charset="0"/>
                        </a:rPr>
                        <a:t>NA</a:t>
                      </a:r>
                      <a:endParaRPr lang="en-IN"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0261" marR="40261" marT="0" marB="0"/>
                </a:tc>
                <a:tc>
                  <a:txBody>
                    <a:bodyPr/>
                    <a:lstStyle/>
                    <a:p>
                      <a:pPr marL="0" marR="0" algn="ctr">
                        <a:lnSpc>
                          <a:spcPct val="107000"/>
                        </a:lnSpc>
                        <a:spcBef>
                          <a:spcPts val="0"/>
                        </a:spcBef>
                        <a:spcAft>
                          <a:spcPts val="0"/>
                        </a:spcAft>
                      </a:pPr>
                      <a:r>
                        <a:rPr lang="en-US" sz="1600" kern="100" dirty="0">
                          <a:effectLst/>
                          <a:latin typeface="Times New Roman" panose="02020603050405020304" pitchFamily="18" charset="0"/>
                          <a:cs typeface="Times New Roman" panose="02020603050405020304" pitchFamily="18" charset="0"/>
                        </a:rPr>
                        <a:t>Live video stream should be started</a:t>
                      </a:r>
                      <a:endParaRPr lang="en-IN"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0261" marR="40261" marT="0" marB="0"/>
                </a:tc>
                <a:tc>
                  <a:txBody>
                    <a:bodyPr/>
                    <a:lstStyle/>
                    <a:p>
                      <a:pPr marL="0" marR="0" algn="ctr">
                        <a:lnSpc>
                          <a:spcPct val="107000"/>
                        </a:lnSpc>
                        <a:spcBef>
                          <a:spcPts val="0"/>
                        </a:spcBef>
                        <a:spcAft>
                          <a:spcPts val="0"/>
                        </a:spcAft>
                      </a:pPr>
                      <a:r>
                        <a:rPr lang="en-US" sz="1600" kern="100" dirty="0">
                          <a:effectLst/>
                          <a:latin typeface="Times New Roman" panose="02020603050405020304" pitchFamily="18" charset="0"/>
                          <a:cs typeface="Times New Roman" panose="02020603050405020304" pitchFamily="18" charset="0"/>
                        </a:rPr>
                        <a:t>Live video stream had started</a:t>
                      </a:r>
                      <a:endParaRPr lang="en-IN"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0261" marR="40261" marT="0" marB="0"/>
                </a:tc>
                <a:tc>
                  <a:txBody>
                    <a:bodyPr/>
                    <a:lstStyle/>
                    <a:p>
                      <a:pPr marL="0" marR="0" algn="ctr">
                        <a:lnSpc>
                          <a:spcPct val="107000"/>
                        </a:lnSpc>
                        <a:spcBef>
                          <a:spcPts val="0"/>
                        </a:spcBef>
                        <a:spcAft>
                          <a:spcPts val="0"/>
                        </a:spcAft>
                      </a:pPr>
                      <a:r>
                        <a:rPr lang="en-US" sz="1600" kern="100">
                          <a:effectLst/>
                          <a:latin typeface="Times New Roman" panose="02020603050405020304" pitchFamily="18" charset="0"/>
                          <a:cs typeface="Times New Roman" panose="02020603050405020304" pitchFamily="18" charset="0"/>
                        </a:rPr>
                        <a:t>Pass</a:t>
                      </a:r>
                      <a:endParaRPr lang="en-IN"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0261" marR="40261" marT="0" marB="0"/>
                </a:tc>
                <a:extLst>
                  <a:ext uri="{0D108BD9-81ED-4DB2-BD59-A6C34878D82A}">
                    <a16:rowId xmlns:a16="http://schemas.microsoft.com/office/drawing/2014/main" val="624101112"/>
                  </a:ext>
                </a:extLst>
              </a:tr>
              <a:tr h="1552855">
                <a:tc>
                  <a:txBody>
                    <a:bodyPr/>
                    <a:lstStyle/>
                    <a:p>
                      <a:pPr marL="0" marR="0" algn="ctr">
                        <a:lnSpc>
                          <a:spcPct val="107000"/>
                        </a:lnSpc>
                        <a:spcBef>
                          <a:spcPts val="0"/>
                        </a:spcBef>
                        <a:spcAft>
                          <a:spcPts val="0"/>
                        </a:spcAft>
                      </a:pPr>
                      <a:r>
                        <a:rPr lang="en-US" sz="1600" kern="100">
                          <a:effectLst/>
                          <a:latin typeface="Times New Roman" panose="02020603050405020304" pitchFamily="18" charset="0"/>
                          <a:cs typeface="Times New Roman" panose="02020603050405020304" pitchFamily="18" charset="0"/>
                        </a:rPr>
                        <a:t>TC_03</a:t>
                      </a:r>
                      <a:endParaRPr lang="en-IN"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0261" marR="40261" marT="0" marB="0"/>
                </a:tc>
                <a:tc>
                  <a:txBody>
                    <a:bodyPr/>
                    <a:lstStyle/>
                    <a:p>
                      <a:pPr marL="0" marR="0" algn="ctr">
                        <a:lnSpc>
                          <a:spcPct val="107000"/>
                        </a:lnSpc>
                        <a:spcBef>
                          <a:spcPts val="0"/>
                        </a:spcBef>
                        <a:spcAft>
                          <a:spcPts val="0"/>
                        </a:spcAft>
                      </a:pPr>
                      <a:r>
                        <a:rPr lang="en-US" sz="1600" kern="100">
                          <a:effectLst/>
                          <a:latin typeface="Times New Roman" panose="02020603050405020304" pitchFamily="18" charset="0"/>
                          <a:cs typeface="Times New Roman" panose="02020603050405020304" pitchFamily="18" charset="0"/>
                        </a:rPr>
                        <a:t>Webcam live video stream should stop on model termination</a:t>
                      </a:r>
                      <a:endParaRPr lang="en-IN"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0261" marR="40261" marT="0" marB="0"/>
                </a:tc>
                <a:tc>
                  <a:txBody>
                    <a:bodyPr/>
                    <a:lstStyle/>
                    <a:p>
                      <a:pPr marL="0" marR="0" algn="ctr">
                        <a:lnSpc>
                          <a:spcPct val="107000"/>
                        </a:lnSpc>
                        <a:spcBef>
                          <a:spcPts val="0"/>
                        </a:spcBef>
                        <a:spcAft>
                          <a:spcPts val="0"/>
                        </a:spcAft>
                      </a:pPr>
                      <a:r>
                        <a:rPr lang="en-US" sz="1600" kern="100">
                          <a:effectLst/>
                          <a:latin typeface="Times New Roman" panose="02020603050405020304" pitchFamily="18" charset="0"/>
                          <a:cs typeface="Times New Roman" panose="02020603050405020304" pitchFamily="18" charset="0"/>
                        </a:rPr>
                        <a:t>Webcam should be available and must be accessible</a:t>
                      </a:r>
                      <a:endParaRPr lang="en-IN"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0261" marR="40261" marT="0" marB="0"/>
                </a:tc>
                <a:tc>
                  <a:txBody>
                    <a:bodyPr/>
                    <a:lstStyle/>
                    <a:p>
                      <a:pPr marL="0" marR="0" algn="ctr">
                        <a:lnSpc>
                          <a:spcPct val="107000"/>
                        </a:lnSpc>
                        <a:spcBef>
                          <a:spcPts val="0"/>
                        </a:spcBef>
                        <a:spcAft>
                          <a:spcPts val="0"/>
                        </a:spcAft>
                      </a:pPr>
                      <a:r>
                        <a:rPr lang="en-US" sz="1600" kern="100">
                          <a:effectLst/>
                          <a:latin typeface="Times New Roman" panose="02020603050405020304" pitchFamily="18" charset="0"/>
                          <a:cs typeface="Times New Roman" panose="02020603050405020304" pitchFamily="18" charset="0"/>
                        </a:rPr>
                        <a:t>Stop live video stream on model termination</a:t>
                      </a:r>
                      <a:endParaRPr lang="en-IN"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0261" marR="40261" marT="0" marB="0"/>
                </a:tc>
                <a:tc>
                  <a:txBody>
                    <a:bodyPr/>
                    <a:lstStyle/>
                    <a:p>
                      <a:pPr marL="0" marR="0" algn="ctr">
                        <a:lnSpc>
                          <a:spcPct val="107000"/>
                        </a:lnSpc>
                        <a:spcBef>
                          <a:spcPts val="0"/>
                        </a:spcBef>
                        <a:spcAft>
                          <a:spcPts val="0"/>
                        </a:spcAft>
                      </a:pPr>
                      <a:r>
                        <a:rPr lang="en-US" sz="1600" kern="100">
                          <a:effectLst/>
                          <a:latin typeface="Times New Roman" panose="02020603050405020304" pitchFamily="18" charset="0"/>
                          <a:cs typeface="Times New Roman" panose="02020603050405020304" pitchFamily="18" charset="0"/>
                        </a:rPr>
                        <a:t>NA</a:t>
                      </a:r>
                      <a:endParaRPr lang="en-IN"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0261" marR="40261" marT="0" marB="0"/>
                </a:tc>
                <a:tc>
                  <a:txBody>
                    <a:bodyPr/>
                    <a:lstStyle/>
                    <a:p>
                      <a:pPr marL="0" marR="0" algn="ctr">
                        <a:lnSpc>
                          <a:spcPct val="107000"/>
                        </a:lnSpc>
                        <a:spcBef>
                          <a:spcPts val="0"/>
                        </a:spcBef>
                        <a:spcAft>
                          <a:spcPts val="0"/>
                        </a:spcAft>
                      </a:pPr>
                      <a:r>
                        <a:rPr lang="en-US" sz="1600" kern="100">
                          <a:effectLst/>
                          <a:latin typeface="Times New Roman" panose="02020603050405020304" pitchFamily="18" charset="0"/>
                          <a:cs typeface="Times New Roman" panose="02020603050405020304" pitchFamily="18" charset="0"/>
                        </a:rPr>
                        <a:t>Live video stream should be stop on model termination</a:t>
                      </a:r>
                      <a:endParaRPr lang="en-IN"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0261" marR="40261" marT="0" marB="0"/>
                </a:tc>
                <a:tc>
                  <a:txBody>
                    <a:bodyPr/>
                    <a:lstStyle/>
                    <a:p>
                      <a:pPr marL="0" marR="0" algn="ctr">
                        <a:lnSpc>
                          <a:spcPct val="107000"/>
                        </a:lnSpc>
                        <a:spcBef>
                          <a:spcPts val="0"/>
                        </a:spcBef>
                        <a:spcAft>
                          <a:spcPts val="0"/>
                        </a:spcAft>
                      </a:pPr>
                      <a:r>
                        <a:rPr lang="en-US" sz="1600" kern="100" dirty="0">
                          <a:effectLst/>
                          <a:latin typeface="Times New Roman" panose="02020603050405020304" pitchFamily="18" charset="0"/>
                          <a:cs typeface="Times New Roman" panose="02020603050405020304" pitchFamily="18" charset="0"/>
                        </a:rPr>
                        <a:t>Live video stream had stopped</a:t>
                      </a:r>
                      <a:endParaRPr lang="en-IN"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0261" marR="40261" marT="0" marB="0"/>
                </a:tc>
                <a:tc>
                  <a:txBody>
                    <a:bodyPr/>
                    <a:lstStyle/>
                    <a:p>
                      <a:pPr marL="0" marR="0" algn="ctr">
                        <a:lnSpc>
                          <a:spcPct val="107000"/>
                        </a:lnSpc>
                        <a:spcBef>
                          <a:spcPts val="0"/>
                        </a:spcBef>
                        <a:spcAft>
                          <a:spcPts val="0"/>
                        </a:spcAft>
                      </a:pPr>
                      <a:r>
                        <a:rPr lang="en-US" sz="1600" kern="100" dirty="0">
                          <a:effectLst/>
                          <a:latin typeface="Times New Roman" panose="02020603050405020304" pitchFamily="18" charset="0"/>
                          <a:cs typeface="Times New Roman" panose="02020603050405020304" pitchFamily="18" charset="0"/>
                        </a:rPr>
                        <a:t>Pass</a:t>
                      </a:r>
                      <a:endParaRPr lang="en-IN"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0261" marR="40261" marT="0" marB="0"/>
                </a:tc>
                <a:extLst>
                  <a:ext uri="{0D108BD9-81ED-4DB2-BD59-A6C34878D82A}">
                    <a16:rowId xmlns:a16="http://schemas.microsoft.com/office/drawing/2014/main" val="4099241019"/>
                  </a:ext>
                </a:extLst>
              </a:tr>
            </a:tbl>
          </a:graphicData>
        </a:graphic>
      </p:graphicFrame>
    </p:spTree>
    <p:extLst>
      <p:ext uri="{BB962C8B-B14F-4D97-AF65-F5344CB8AC3E}">
        <p14:creationId xmlns:p14="http://schemas.microsoft.com/office/powerpoint/2010/main" val="2030815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A7B481-3D0C-18DC-2FA9-4E0B5B522108}"/>
              </a:ext>
            </a:extLst>
          </p:cNvPr>
          <p:cNvSpPr>
            <a:spLocks noGrp="1"/>
          </p:cNvSpPr>
          <p:nvPr>
            <p:ph type="title"/>
          </p:nvPr>
        </p:nvSpPr>
        <p:spPr/>
        <p:txBody>
          <a:bodyPr/>
          <a:lstStyle/>
          <a:p>
            <a:r>
              <a:rPr lang="en-US" dirty="0"/>
              <a:t>Test cases: model</a:t>
            </a:r>
            <a:endParaRPr lang="en-IN" dirty="0"/>
          </a:p>
        </p:txBody>
      </p:sp>
      <p:graphicFrame>
        <p:nvGraphicFramePr>
          <p:cNvPr id="7" name="Content Placeholder 6">
            <a:extLst>
              <a:ext uri="{FF2B5EF4-FFF2-40B4-BE49-F238E27FC236}">
                <a16:creationId xmlns:a16="http://schemas.microsoft.com/office/drawing/2014/main" id="{5B6EFB6D-0D61-4C2F-ADBE-70E77AE6BD68}"/>
              </a:ext>
            </a:extLst>
          </p:cNvPr>
          <p:cNvGraphicFramePr>
            <a:graphicFrameLocks noGrp="1"/>
          </p:cNvGraphicFramePr>
          <p:nvPr>
            <p:ph idx="1"/>
            <p:extLst>
              <p:ext uri="{D42A27DB-BD31-4B8C-83A1-F6EECF244321}">
                <p14:modId xmlns:p14="http://schemas.microsoft.com/office/powerpoint/2010/main" val="4018705481"/>
              </p:ext>
            </p:extLst>
          </p:nvPr>
        </p:nvGraphicFramePr>
        <p:xfrm>
          <a:off x="332509" y="1363287"/>
          <a:ext cx="11338560" cy="5339614"/>
        </p:xfrm>
        <a:graphic>
          <a:graphicData uri="http://schemas.openxmlformats.org/drawingml/2006/table">
            <a:tbl>
              <a:tblPr firstRow="1" firstCol="1" bandRow="1">
                <a:tableStyleId>{5C22544A-7EE6-4342-B048-85BDC9FD1C3A}</a:tableStyleId>
              </a:tblPr>
              <a:tblGrid>
                <a:gridCol w="1020970">
                  <a:extLst>
                    <a:ext uri="{9D8B030D-6E8A-4147-A177-3AD203B41FA5}">
                      <a16:colId xmlns:a16="http://schemas.microsoft.com/office/drawing/2014/main" val="2412331335"/>
                    </a:ext>
                  </a:extLst>
                </a:gridCol>
                <a:gridCol w="1514568">
                  <a:extLst>
                    <a:ext uri="{9D8B030D-6E8A-4147-A177-3AD203B41FA5}">
                      <a16:colId xmlns:a16="http://schemas.microsoft.com/office/drawing/2014/main" val="2142278157"/>
                    </a:ext>
                  </a:extLst>
                </a:gridCol>
                <a:gridCol w="1754285">
                  <a:extLst>
                    <a:ext uri="{9D8B030D-6E8A-4147-A177-3AD203B41FA5}">
                      <a16:colId xmlns:a16="http://schemas.microsoft.com/office/drawing/2014/main" val="2229434339"/>
                    </a:ext>
                  </a:extLst>
                </a:gridCol>
                <a:gridCol w="1514568">
                  <a:extLst>
                    <a:ext uri="{9D8B030D-6E8A-4147-A177-3AD203B41FA5}">
                      <a16:colId xmlns:a16="http://schemas.microsoft.com/office/drawing/2014/main" val="99898488"/>
                    </a:ext>
                  </a:extLst>
                </a:gridCol>
                <a:gridCol w="1340231">
                  <a:extLst>
                    <a:ext uri="{9D8B030D-6E8A-4147-A177-3AD203B41FA5}">
                      <a16:colId xmlns:a16="http://schemas.microsoft.com/office/drawing/2014/main" val="2316870438"/>
                    </a:ext>
                  </a:extLst>
                </a:gridCol>
                <a:gridCol w="1630068">
                  <a:extLst>
                    <a:ext uri="{9D8B030D-6E8A-4147-A177-3AD203B41FA5}">
                      <a16:colId xmlns:a16="http://schemas.microsoft.com/office/drawing/2014/main" val="3612832579"/>
                    </a:ext>
                  </a:extLst>
                </a:gridCol>
                <a:gridCol w="1630068">
                  <a:extLst>
                    <a:ext uri="{9D8B030D-6E8A-4147-A177-3AD203B41FA5}">
                      <a16:colId xmlns:a16="http://schemas.microsoft.com/office/drawing/2014/main" val="4263865780"/>
                    </a:ext>
                  </a:extLst>
                </a:gridCol>
                <a:gridCol w="933802">
                  <a:extLst>
                    <a:ext uri="{9D8B030D-6E8A-4147-A177-3AD203B41FA5}">
                      <a16:colId xmlns:a16="http://schemas.microsoft.com/office/drawing/2014/main" val="3724889043"/>
                    </a:ext>
                  </a:extLst>
                </a:gridCol>
              </a:tblGrid>
              <a:tr h="512405">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TC_ID</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7516" marR="27516"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Test Case Objective</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7516" marR="27516"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Pre-requisites</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7516" marR="27516"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Steps</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7516" marR="27516"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Input</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7516" marR="27516"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Expected Result</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7516" marR="27516"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Actual Result</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7516" marR="27516"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Status</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7516" marR="27516" marT="0" marB="0"/>
                </a:tc>
                <a:extLst>
                  <a:ext uri="{0D108BD9-81ED-4DB2-BD59-A6C34878D82A}">
                    <a16:rowId xmlns:a16="http://schemas.microsoft.com/office/drawing/2014/main" val="1277594654"/>
                  </a:ext>
                </a:extLst>
              </a:tr>
              <a:tr h="452533">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TC_01</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7516" marR="27516"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Model should be started</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7516" marR="27516"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Model must be available with code</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7516" marR="27516"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Start model </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7516" marR="27516"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NA</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7516" marR="27516"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Model should be start</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7516" marR="27516"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Model had started</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7516" marR="27516"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Pass</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7516" marR="27516" marT="0" marB="0"/>
                </a:tc>
                <a:extLst>
                  <a:ext uri="{0D108BD9-81ED-4DB2-BD59-A6C34878D82A}">
                    <a16:rowId xmlns:a16="http://schemas.microsoft.com/office/drawing/2014/main" val="4220459854"/>
                  </a:ext>
                </a:extLst>
              </a:tr>
              <a:tr h="783173">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TC_02</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7516" marR="27516"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Fetch data from known and unknown tables</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7516" marR="27516"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Known and Unknown table should be available in ImageDB database</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7516" marR="27516"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Fetch data from known and unknown table and store in local variables</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7516" marR="27516"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MySQL DML select query for fetching data from tables</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7516" marR="27516"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Data should be fetched</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7516" marR="27516"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Data fetched successfully</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7516" marR="27516"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Pass</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7516" marR="27516" marT="0" marB="0"/>
                </a:tc>
                <a:extLst>
                  <a:ext uri="{0D108BD9-81ED-4DB2-BD59-A6C34878D82A}">
                    <a16:rowId xmlns:a16="http://schemas.microsoft.com/office/drawing/2014/main" val="1641508314"/>
                  </a:ext>
                </a:extLst>
              </a:tr>
              <a:tr h="713506">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TC_03</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7516" marR="27516"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Start live video stream using System’s Webcam</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7516" marR="27516"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System’s Webcam should be available and must be accessible</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7516" marR="27516"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Start live video stream using Webcam</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7516" marR="27516"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NA</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7516" marR="27516"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Live video stream should start</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7516" marR="27516"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Live video stream had started</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7516" marR="27516"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Pass</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7516" marR="27516" marT="0" marB="0"/>
                </a:tc>
                <a:extLst>
                  <a:ext uri="{0D108BD9-81ED-4DB2-BD59-A6C34878D82A}">
                    <a16:rowId xmlns:a16="http://schemas.microsoft.com/office/drawing/2014/main" val="835647543"/>
                  </a:ext>
                </a:extLst>
              </a:tr>
              <a:tr h="713506">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TC_04</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7516" marR="27516"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Access video stream into frame</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7516" marR="27516"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System’s Webcam should be available and must be accessible</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7516" marR="27516"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Accept frames of live video stream</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7516" marR="27516"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Webcam’s live video stream</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7516" marR="27516"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Frames should be accepted using live video stream</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7516" marR="27516"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Frames was accepted using live video stream</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7516" marR="27516"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Pass</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7516" marR="27516" marT="0" marB="0"/>
                </a:tc>
                <a:extLst>
                  <a:ext uri="{0D108BD9-81ED-4DB2-BD59-A6C34878D82A}">
                    <a16:rowId xmlns:a16="http://schemas.microsoft.com/office/drawing/2014/main" val="3699394856"/>
                  </a:ext>
                </a:extLst>
              </a:tr>
              <a:tr h="713506">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TC_05</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7516" marR="27516"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Convert RGB frames into grey level frames</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7516" marR="27516"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Frames should be available</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7516" marR="27516"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Conversion of frames from RGB color to grey scale level color</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7516" marR="27516"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RGB frames</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7516" marR="27516"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Conversion should be done</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7516" marR="27516"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Conversion done successfully</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7516" marR="27516"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Pass</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7516" marR="27516" marT="0" marB="0"/>
                </a:tc>
                <a:extLst>
                  <a:ext uri="{0D108BD9-81ED-4DB2-BD59-A6C34878D82A}">
                    <a16:rowId xmlns:a16="http://schemas.microsoft.com/office/drawing/2014/main" val="497860736"/>
                  </a:ext>
                </a:extLst>
              </a:tr>
              <a:tr h="737479">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TC_06</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7516" marR="27516"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Start detecting the Motion from Grey level frames</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7516" marR="27516"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Grey level frame should be available</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7516" marR="27516"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Start detecting motion using grey level converted frames</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7516" marR="27516"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Grey Level frames</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7516" marR="27516"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Motion should be detected</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7516" marR="27516"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Motion is detected</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7516" marR="27516"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Pass</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7516" marR="27516" marT="0" marB="0"/>
                </a:tc>
                <a:extLst>
                  <a:ext uri="{0D108BD9-81ED-4DB2-BD59-A6C34878D82A}">
                    <a16:rowId xmlns:a16="http://schemas.microsoft.com/office/drawing/2014/main" val="2472246730"/>
                  </a:ext>
                </a:extLst>
              </a:tr>
              <a:tr h="713506">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TC_07</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7516" marR="27516"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Start Haar-Cascade Model</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7516" marR="27516"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Haar-Cascade model should be available</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7516" marR="27516"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Start the Haar-Cascade model for detecting faces</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7516" marR="27516"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Live video stream from Webcam</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7516" marR="27516"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Haar-Cascade Classifier model should be started</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7516" marR="27516" marT="0" marB="0"/>
                </a:tc>
                <a:tc>
                  <a:txBody>
                    <a:bodyPr/>
                    <a:lstStyle/>
                    <a:p>
                      <a:pPr marL="0" marR="0" algn="ctr">
                        <a:lnSpc>
                          <a:spcPct val="107000"/>
                        </a:lnSpc>
                        <a:spcBef>
                          <a:spcPts val="0"/>
                        </a:spcBef>
                        <a:spcAft>
                          <a:spcPts val="0"/>
                        </a:spcAft>
                      </a:pPr>
                      <a:r>
                        <a:rPr lang="en-US" sz="1200" kern="100">
                          <a:effectLst/>
                          <a:latin typeface="Times New Roman" panose="02020603050405020304" pitchFamily="18" charset="0"/>
                          <a:cs typeface="Times New Roman" panose="02020603050405020304" pitchFamily="18" charset="0"/>
                        </a:rPr>
                        <a:t>Haar-Cascade Classifier had started</a:t>
                      </a:r>
                      <a:endParaRPr lang="en-IN"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7516" marR="27516" marT="0" marB="0"/>
                </a:tc>
                <a:tc>
                  <a:txBody>
                    <a:bodyPr/>
                    <a:lstStyle/>
                    <a:p>
                      <a:pPr marL="0" marR="0" algn="ctr">
                        <a:lnSpc>
                          <a:spcPct val="107000"/>
                        </a:lnSpc>
                        <a:spcBef>
                          <a:spcPts val="0"/>
                        </a:spcBef>
                        <a:spcAft>
                          <a:spcPts val="0"/>
                        </a:spcAft>
                      </a:pPr>
                      <a:r>
                        <a:rPr lang="en-US" sz="1200" kern="100" dirty="0">
                          <a:effectLst/>
                          <a:latin typeface="Times New Roman" panose="02020603050405020304" pitchFamily="18" charset="0"/>
                          <a:cs typeface="Times New Roman" panose="02020603050405020304" pitchFamily="18" charset="0"/>
                        </a:rPr>
                        <a:t>Pass</a:t>
                      </a:r>
                      <a:endParaRPr lang="en-IN" sz="11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7516" marR="27516" marT="0" marB="0"/>
                </a:tc>
                <a:extLst>
                  <a:ext uri="{0D108BD9-81ED-4DB2-BD59-A6C34878D82A}">
                    <a16:rowId xmlns:a16="http://schemas.microsoft.com/office/drawing/2014/main" val="2933612769"/>
                  </a:ext>
                </a:extLst>
              </a:tr>
            </a:tbl>
          </a:graphicData>
        </a:graphic>
      </p:graphicFrame>
    </p:spTree>
    <p:extLst>
      <p:ext uri="{BB962C8B-B14F-4D97-AF65-F5344CB8AC3E}">
        <p14:creationId xmlns:p14="http://schemas.microsoft.com/office/powerpoint/2010/main" val="1503167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9E7426-E9D3-DF1B-BE2B-1E4099B53096}"/>
              </a:ext>
            </a:extLst>
          </p:cNvPr>
          <p:cNvSpPr>
            <a:spLocks noGrp="1"/>
          </p:cNvSpPr>
          <p:nvPr>
            <p:ph type="title"/>
          </p:nvPr>
        </p:nvSpPr>
        <p:spPr/>
        <p:txBody>
          <a:bodyPr/>
          <a:lstStyle/>
          <a:p>
            <a:r>
              <a:rPr lang="en-US" dirty="0"/>
              <a:t>Test cases: model (cont.)</a:t>
            </a:r>
            <a:endParaRPr lang="en-IN" dirty="0"/>
          </a:p>
        </p:txBody>
      </p:sp>
      <p:graphicFrame>
        <p:nvGraphicFramePr>
          <p:cNvPr id="4" name="Content Placeholder 3">
            <a:extLst>
              <a:ext uri="{FF2B5EF4-FFF2-40B4-BE49-F238E27FC236}">
                <a16:creationId xmlns:a16="http://schemas.microsoft.com/office/drawing/2014/main" id="{037DE53B-A0EB-701F-4F47-49073E9BDEAE}"/>
              </a:ext>
            </a:extLst>
          </p:cNvPr>
          <p:cNvGraphicFramePr>
            <a:graphicFrameLocks noGrp="1"/>
          </p:cNvGraphicFramePr>
          <p:nvPr>
            <p:ph idx="1"/>
            <p:extLst>
              <p:ext uri="{D42A27DB-BD31-4B8C-83A1-F6EECF244321}">
                <p14:modId xmlns:p14="http://schemas.microsoft.com/office/powerpoint/2010/main" val="3953445478"/>
              </p:ext>
            </p:extLst>
          </p:nvPr>
        </p:nvGraphicFramePr>
        <p:xfrm>
          <a:off x="251927" y="1334278"/>
          <a:ext cx="11681926" cy="5230132"/>
        </p:xfrm>
        <a:graphic>
          <a:graphicData uri="http://schemas.openxmlformats.org/drawingml/2006/table">
            <a:tbl>
              <a:tblPr firstRow="1" firstCol="1" bandRow="1">
                <a:tableStyleId>{5C22544A-7EE6-4342-B048-85BDC9FD1C3A}</a:tableStyleId>
              </a:tblPr>
              <a:tblGrid>
                <a:gridCol w="1057620">
                  <a:extLst>
                    <a:ext uri="{9D8B030D-6E8A-4147-A177-3AD203B41FA5}">
                      <a16:colId xmlns:a16="http://schemas.microsoft.com/office/drawing/2014/main" val="3209047459"/>
                    </a:ext>
                  </a:extLst>
                </a:gridCol>
                <a:gridCol w="1568931">
                  <a:extLst>
                    <a:ext uri="{9D8B030D-6E8A-4147-A177-3AD203B41FA5}">
                      <a16:colId xmlns:a16="http://schemas.microsoft.com/office/drawing/2014/main" val="2615648796"/>
                    </a:ext>
                  </a:extLst>
                </a:gridCol>
                <a:gridCol w="1817254">
                  <a:extLst>
                    <a:ext uri="{9D8B030D-6E8A-4147-A177-3AD203B41FA5}">
                      <a16:colId xmlns:a16="http://schemas.microsoft.com/office/drawing/2014/main" val="3053592917"/>
                    </a:ext>
                  </a:extLst>
                </a:gridCol>
                <a:gridCol w="1568931">
                  <a:extLst>
                    <a:ext uri="{9D8B030D-6E8A-4147-A177-3AD203B41FA5}">
                      <a16:colId xmlns:a16="http://schemas.microsoft.com/office/drawing/2014/main" val="1826289060"/>
                    </a:ext>
                  </a:extLst>
                </a:gridCol>
                <a:gridCol w="1388334">
                  <a:extLst>
                    <a:ext uri="{9D8B030D-6E8A-4147-A177-3AD203B41FA5}">
                      <a16:colId xmlns:a16="http://schemas.microsoft.com/office/drawing/2014/main" val="3266504956"/>
                    </a:ext>
                  </a:extLst>
                </a:gridCol>
                <a:gridCol w="1688578">
                  <a:extLst>
                    <a:ext uri="{9D8B030D-6E8A-4147-A177-3AD203B41FA5}">
                      <a16:colId xmlns:a16="http://schemas.microsoft.com/office/drawing/2014/main" val="1950690086"/>
                    </a:ext>
                  </a:extLst>
                </a:gridCol>
                <a:gridCol w="1688578">
                  <a:extLst>
                    <a:ext uri="{9D8B030D-6E8A-4147-A177-3AD203B41FA5}">
                      <a16:colId xmlns:a16="http://schemas.microsoft.com/office/drawing/2014/main" val="2756917310"/>
                    </a:ext>
                  </a:extLst>
                </a:gridCol>
                <a:gridCol w="903700">
                  <a:extLst>
                    <a:ext uri="{9D8B030D-6E8A-4147-A177-3AD203B41FA5}">
                      <a16:colId xmlns:a16="http://schemas.microsoft.com/office/drawing/2014/main" val="681654556"/>
                    </a:ext>
                  </a:extLst>
                </a:gridCol>
              </a:tblGrid>
              <a:tr h="680325">
                <a:tc>
                  <a:txBody>
                    <a:bodyPr/>
                    <a:lstStyle/>
                    <a:p>
                      <a:pPr marL="0" marR="0" algn="ctr">
                        <a:lnSpc>
                          <a:spcPct val="107000"/>
                        </a:lnSpc>
                        <a:spcBef>
                          <a:spcPts val="0"/>
                        </a:spcBef>
                        <a:spcAft>
                          <a:spcPts val="0"/>
                        </a:spcAft>
                      </a:pPr>
                      <a:r>
                        <a:rPr lang="en-US" sz="1050" b="1" kern="100" dirty="0">
                          <a:effectLst/>
                          <a:latin typeface="Times New Roman" panose="02020603050405020304" pitchFamily="18" charset="0"/>
                          <a:ea typeface="Calibri" panose="020F0502020204030204" pitchFamily="34" charset="0"/>
                          <a:cs typeface="Mangal" panose="02040503050203030202" pitchFamily="18" charset="0"/>
                        </a:rPr>
                        <a:t>TC_ID</a:t>
                      </a:r>
                      <a:endParaRPr lang="en-IN" sz="1000" kern="1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US" sz="1050" b="1" kern="100" dirty="0">
                          <a:effectLst/>
                          <a:latin typeface="Times New Roman" panose="02020603050405020304" pitchFamily="18" charset="0"/>
                          <a:ea typeface="Calibri" panose="020F0502020204030204" pitchFamily="34" charset="0"/>
                          <a:cs typeface="Mangal" panose="02040503050203030202" pitchFamily="18" charset="0"/>
                        </a:rPr>
                        <a:t>Test Case Objective</a:t>
                      </a:r>
                      <a:endParaRPr lang="en-IN" sz="1000" kern="1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US" sz="1050" b="1" kern="100" dirty="0">
                          <a:effectLst/>
                          <a:latin typeface="Times New Roman" panose="02020603050405020304" pitchFamily="18" charset="0"/>
                          <a:ea typeface="Calibri" panose="020F0502020204030204" pitchFamily="34" charset="0"/>
                          <a:cs typeface="Mangal" panose="02040503050203030202" pitchFamily="18" charset="0"/>
                        </a:rPr>
                        <a:t>Pre-requisites</a:t>
                      </a:r>
                      <a:endParaRPr lang="en-IN" sz="1000" kern="1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US" sz="1050" b="1" kern="100">
                          <a:effectLst/>
                          <a:latin typeface="Times New Roman" panose="02020603050405020304" pitchFamily="18" charset="0"/>
                          <a:ea typeface="Calibri" panose="020F0502020204030204" pitchFamily="34" charset="0"/>
                          <a:cs typeface="Mangal" panose="02040503050203030202" pitchFamily="18" charset="0"/>
                        </a:rPr>
                        <a:t>Steps</a:t>
                      </a:r>
                      <a:endParaRPr lang="en-IN" sz="1000" kern="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US" sz="1050" b="1" kern="100">
                          <a:effectLst/>
                          <a:latin typeface="Times New Roman" panose="02020603050405020304" pitchFamily="18" charset="0"/>
                          <a:ea typeface="Calibri" panose="020F0502020204030204" pitchFamily="34" charset="0"/>
                          <a:cs typeface="Mangal" panose="02040503050203030202" pitchFamily="18" charset="0"/>
                        </a:rPr>
                        <a:t>Input</a:t>
                      </a:r>
                      <a:endParaRPr lang="en-IN" sz="1000" kern="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US" sz="1050" b="1" kern="100" dirty="0">
                          <a:effectLst/>
                          <a:latin typeface="Times New Roman" panose="02020603050405020304" pitchFamily="18" charset="0"/>
                          <a:ea typeface="Calibri" panose="020F0502020204030204" pitchFamily="34" charset="0"/>
                          <a:cs typeface="Mangal" panose="02040503050203030202" pitchFamily="18" charset="0"/>
                        </a:rPr>
                        <a:t>Expected Result</a:t>
                      </a:r>
                      <a:endParaRPr lang="en-IN" sz="1000" kern="1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US" sz="1050" b="1" kern="100" dirty="0">
                          <a:effectLst/>
                          <a:latin typeface="Times New Roman" panose="02020603050405020304" pitchFamily="18" charset="0"/>
                          <a:ea typeface="Calibri" panose="020F0502020204030204" pitchFamily="34" charset="0"/>
                          <a:cs typeface="Mangal" panose="02040503050203030202" pitchFamily="18" charset="0"/>
                        </a:rPr>
                        <a:t>Actual Result</a:t>
                      </a:r>
                      <a:endParaRPr lang="en-IN" sz="1000" kern="1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US" sz="1050" b="1" kern="100" dirty="0">
                          <a:effectLst/>
                          <a:latin typeface="Times New Roman" panose="02020603050405020304" pitchFamily="18" charset="0"/>
                          <a:ea typeface="Calibri" panose="020F0502020204030204" pitchFamily="34" charset="0"/>
                          <a:cs typeface="Mangal" panose="02040503050203030202" pitchFamily="18" charset="0"/>
                        </a:rPr>
                        <a:t>Status</a:t>
                      </a:r>
                      <a:endParaRPr lang="en-IN" sz="1000" kern="1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2894567080"/>
                  </a:ext>
                </a:extLst>
              </a:tr>
              <a:tr h="680325">
                <a:tc>
                  <a:txBody>
                    <a:bodyPr/>
                    <a:lstStyle/>
                    <a:p>
                      <a:pPr marL="0" marR="0" algn="ctr">
                        <a:lnSpc>
                          <a:spcPct val="107000"/>
                        </a:lnSpc>
                        <a:spcBef>
                          <a:spcPts val="0"/>
                        </a:spcBef>
                        <a:spcAft>
                          <a:spcPts val="0"/>
                        </a:spcAft>
                      </a:pPr>
                      <a:r>
                        <a:rPr lang="en-US" sz="1050" kern="100" dirty="0">
                          <a:effectLst/>
                          <a:latin typeface="Times New Roman" panose="02020603050405020304" pitchFamily="18" charset="0"/>
                          <a:cs typeface="Times New Roman" panose="02020603050405020304" pitchFamily="18" charset="0"/>
                        </a:rPr>
                        <a:t>TC_08</a:t>
                      </a:r>
                      <a:endParaRPr lang="en-IN" sz="105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2342" marR="22342" marT="0" marB="0"/>
                </a:tc>
                <a:tc>
                  <a:txBody>
                    <a:bodyPr/>
                    <a:lstStyle/>
                    <a:p>
                      <a:pPr marL="0" marR="0" algn="ctr">
                        <a:lnSpc>
                          <a:spcPct val="107000"/>
                        </a:lnSpc>
                        <a:spcBef>
                          <a:spcPts val="0"/>
                        </a:spcBef>
                        <a:spcAft>
                          <a:spcPts val="0"/>
                        </a:spcAft>
                      </a:pPr>
                      <a:r>
                        <a:rPr lang="en-US" sz="1050" kern="100" dirty="0">
                          <a:effectLst/>
                          <a:latin typeface="Times New Roman" panose="02020603050405020304" pitchFamily="18" charset="0"/>
                          <a:cs typeface="Times New Roman" panose="02020603050405020304" pitchFamily="18" charset="0"/>
                        </a:rPr>
                        <a:t>Start detecting the multiple faces using </a:t>
                      </a:r>
                      <a:r>
                        <a:rPr lang="en-US" sz="1050" kern="100" dirty="0" err="1">
                          <a:effectLst/>
                          <a:latin typeface="Times New Roman" panose="02020603050405020304" pitchFamily="18" charset="0"/>
                          <a:cs typeface="Times New Roman" panose="02020603050405020304" pitchFamily="18" charset="0"/>
                        </a:rPr>
                        <a:t>Haar</a:t>
                      </a:r>
                      <a:r>
                        <a:rPr lang="en-US" sz="1050" kern="100" dirty="0">
                          <a:effectLst/>
                          <a:latin typeface="Times New Roman" panose="02020603050405020304" pitchFamily="18" charset="0"/>
                          <a:cs typeface="Times New Roman" panose="02020603050405020304" pitchFamily="18" charset="0"/>
                        </a:rPr>
                        <a:t>-Cascade Model</a:t>
                      </a:r>
                      <a:endParaRPr lang="en-IN" sz="105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2342" marR="22342" marT="0" marB="0"/>
                </a:tc>
                <a:tc>
                  <a:txBody>
                    <a:bodyPr/>
                    <a:lstStyle/>
                    <a:p>
                      <a:pPr marL="0" marR="0" algn="ctr">
                        <a:lnSpc>
                          <a:spcPct val="107000"/>
                        </a:lnSpc>
                        <a:spcBef>
                          <a:spcPts val="0"/>
                        </a:spcBef>
                        <a:spcAft>
                          <a:spcPts val="0"/>
                        </a:spcAft>
                      </a:pPr>
                      <a:r>
                        <a:rPr lang="en-US" sz="1050" kern="100" dirty="0" err="1">
                          <a:effectLst/>
                          <a:latin typeface="Times New Roman" panose="02020603050405020304" pitchFamily="18" charset="0"/>
                          <a:cs typeface="Times New Roman" panose="02020603050405020304" pitchFamily="18" charset="0"/>
                        </a:rPr>
                        <a:t>Haar</a:t>
                      </a:r>
                      <a:r>
                        <a:rPr lang="en-US" sz="1050" kern="100" dirty="0">
                          <a:effectLst/>
                          <a:latin typeface="Times New Roman" panose="02020603050405020304" pitchFamily="18" charset="0"/>
                          <a:cs typeface="Times New Roman" panose="02020603050405020304" pitchFamily="18" charset="0"/>
                        </a:rPr>
                        <a:t>-Cascade model should be started </a:t>
                      </a:r>
                      <a:endParaRPr lang="en-IN" sz="105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2342" marR="22342" marT="0" marB="0"/>
                </a:tc>
                <a:tc>
                  <a:txBody>
                    <a:bodyPr/>
                    <a:lstStyle/>
                    <a:p>
                      <a:pPr marL="0" marR="0" algn="ctr">
                        <a:lnSpc>
                          <a:spcPct val="107000"/>
                        </a:lnSpc>
                        <a:spcBef>
                          <a:spcPts val="0"/>
                        </a:spcBef>
                        <a:spcAft>
                          <a:spcPts val="0"/>
                        </a:spcAft>
                      </a:pPr>
                      <a:r>
                        <a:rPr lang="en-US" sz="1050" kern="100" dirty="0">
                          <a:effectLst/>
                          <a:latin typeface="Times New Roman" panose="02020603050405020304" pitchFamily="18" charset="0"/>
                          <a:cs typeface="Times New Roman" panose="02020603050405020304" pitchFamily="18" charset="0"/>
                        </a:rPr>
                        <a:t>Start detecting multiple faces</a:t>
                      </a:r>
                      <a:endParaRPr lang="en-IN" sz="105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2342" marR="22342" marT="0" marB="0"/>
                </a:tc>
                <a:tc>
                  <a:txBody>
                    <a:bodyPr/>
                    <a:lstStyle/>
                    <a:p>
                      <a:pPr marL="0" marR="0" algn="ctr">
                        <a:lnSpc>
                          <a:spcPct val="107000"/>
                        </a:lnSpc>
                        <a:spcBef>
                          <a:spcPts val="0"/>
                        </a:spcBef>
                        <a:spcAft>
                          <a:spcPts val="0"/>
                        </a:spcAft>
                      </a:pPr>
                      <a:r>
                        <a:rPr lang="en-US" sz="1050" kern="100" dirty="0">
                          <a:effectLst/>
                          <a:latin typeface="Times New Roman" panose="02020603050405020304" pitchFamily="18" charset="0"/>
                          <a:cs typeface="Times New Roman" panose="02020603050405020304" pitchFamily="18" charset="0"/>
                        </a:rPr>
                        <a:t>Harr-Cascade model and live video stream from Webcam</a:t>
                      </a:r>
                      <a:endParaRPr lang="en-IN" sz="105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2342" marR="22342" marT="0" marB="0"/>
                </a:tc>
                <a:tc>
                  <a:txBody>
                    <a:bodyPr/>
                    <a:lstStyle/>
                    <a:p>
                      <a:pPr marL="0" marR="0" algn="ctr">
                        <a:lnSpc>
                          <a:spcPct val="107000"/>
                        </a:lnSpc>
                        <a:spcBef>
                          <a:spcPts val="0"/>
                        </a:spcBef>
                        <a:spcAft>
                          <a:spcPts val="0"/>
                        </a:spcAft>
                      </a:pPr>
                      <a:r>
                        <a:rPr lang="en-US" sz="1050" kern="100" dirty="0">
                          <a:effectLst/>
                          <a:latin typeface="Times New Roman" panose="02020603050405020304" pitchFamily="18" charset="0"/>
                          <a:cs typeface="Times New Roman" panose="02020603050405020304" pitchFamily="18" charset="0"/>
                        </a:rPr>
                        <a:t>Multiple faces must be detected</a:t>
                      </a:r>
                      <a:endParaRPr lang="en-IN" sz="105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2342" marR="22342"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Multiple faces are detected </a:t>
                      </a:r>
                      <a:endParaRPr lang="en-IN"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2342" marR="22342"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Pass</a:t>
                      </a:r>
                      <a:endParaRPr lang="en-IN"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2342" marR="22342" marT="0" marB="0"/>
                </a:tc>
                <a:extLst>
                  <a:ext uri="{0D108BD9-81ED-4DB2-BD59-A6C34878D82A}">
                    <a16:rowId xmlns:a16="http://schemas.microsoft.com/office/drawing/2014/main" val="2430346975"/>
                  </a:ext>
                </a:extLst>
              </a:tr>
              <a:tr h="765846">
                <a:tc>
                  <a:txBody>
                    <a:bodyPr/>
                    <a:lstStyle/>
                    <a:p>
                      <a:pPr marL="0" marR="0" algn="ctr">
                        <a:lnSpc>
                          <a:spcPct val="107000"/>
                        </a:lnSpc>
                        <a:spcBef>
                          <a:spcPts val="0"/>
                        </a:spcBef>
                        <a:spcAft>
                          <a:spcPts val="0"/>
                        </a:spcAft>
                      </a:pPr>
                      <a:r>
                        <a:rPr lang="en-US" sz="1050" kern="100" dirty="0">
                          <a:effectLst/>
                          <a:latin typeface="Times New Roman" panose="02020603050405020304" pitchFamily="18" charset="0"/>
                          <a:cs typeface="Times New Roman" panose="02020603050405020304" pitchFamily="18" charset="0"/>
                        </a:rPr>
                        <a:t>TC_09</a:t>
                      </a:r>
                      <a:endParaRPr lang="en-IN" sz="105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2342" marR="22342"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Store the newly detected face in unknown table and also in local drive</a:t>
                      </a:r>
                      <a:endParaRPr lang="en-IN"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2342" marR="22342"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Unknown table and physical drive should be available</a:t>
                      </a:r>
                      <a:endParaRPr lang="en-IN"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2342" marR="22342"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Store newly detected face in database and in local storage</a:t>
                      </a:r>
                      <a:endParaRPr lang="en-IN"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2342" marR="22342"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Newly detected face from Haar-Cascade Classifier model</a:t>
                      </a:r>
                      <a:endParaRPr lang="en-IN"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2342" marR="22342"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Newly detected face must be stored in local storage as well as in unknown table</a:t>
                      </a:r>
                      <a:endParaRPr lang="en-IN"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2342" marR="22342"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Newly detected face stored in local storage as well as in unknown table successfully</a:t>
                      </a:r>
                      <a:endParaRPr lang="en-IN"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2342" marR="22342"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Pass</a:t>
                      </a:r>
                      <a:endParaRPr lang="en-IN"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2342" marR="22342" marT="0" marB="0"/>
                </a:tc>
                <a:extLst>
                  <a:ext uri="{0D108BD9-81ED-4DB2-BD59-A6C34878D82A}">
                    <a16:rowId xmlns:a16="http://schemas.microsoft.com/office/drawing/2014/main" val="1039980398"/>
                  </a:ext>
                </a:extLst>
              </a:tr>
              <a:tr h="413956">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TC_10</a:t>
                      </a:r>
                      <a:endParaRPr lang="en-IN"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2342" marR="22342" marT="0" marB="0"/>
                </a:tc>
                <a:tc>
                  <a:txBody>
                    <a:bodyPr/>
                    <a:lstStyle/>
                    <a:p>
                      <a:pPr marL="0" marR="0" algn="ctr">
                        <a:lnSpc>
                          <a:spcPct val="107000"/>
                        </a:lnSpc>
                        <a:spcBef>
                          <a:spcPts val="0"/>
                        </a:spcBef>
                        <a:spcAft>
                          <a:spcPts val="0"/>
                        </a:spcAft>
                      </a:pPr>
                      <a:r>
                        <a:rPr lang="en-US" sz="1050" kern="100" dirty="0">
                          <a:effectLst/>
                          <a:latin typeface="Times New Roman" panose="02020603050405020304" pitchFamily="18" charset="0"/>
                          <a:cs typeface="Times New Roman" panose="02020603050405020304" pitchFamily="18" charset="0"/>
                        </a:rPr>
                        <a:t>Start the Face Recognition model</a:t>
                      </a:r>
                      <a:endParaRPr lang="en-IN" sz="105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2342" marR="22342"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Face Recognition model should be available</a:t>
                      </a:r>
                      <a:endParaRPr lang="en-IN"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2342" marR="22342"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Start the Face Recognition model</a:t>
                      </a:r>
                      <a:endParaRPr lang="en-IN"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2342" marR="22342"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Live video stream from Webcam</a:t>
                      </a:r>
                      <a:endParaRPr lang="en-IN"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2342" marR="22342"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Face Recognition model should start</a:t>
                      </a:r>
                      <a:endParaRPr lang="en-IN"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2342" marR="22342"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Face Recognition model had started</a:t>
                      </a:r>
                      <a:endParaRPr lang="en-IN"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2342" marR="22342"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Pass</a:t>
                      </a:r>
                      <a:endParaRPr lang="en-IN"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2342" marR="22342" marT="0" marB="0"/>
                </a:tc>
                <a:extLst>
                  <a:ext uri="{0D108BD9-81ED-4DB2-BD59-A6C34878D82A}">
                    <a16:rowId xmlns:a16="http://schemas.microsoft.com/office/drawing/2014/main" val="4031957680"/>
                  </a:ext>
                </a:extLst>
              </a:tr>
              <a:tr h="664788">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TC_11</a:t>
                      </a:r>
                      <a:endParaRPr lang="en-IN"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2342" marR="22342"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Access the known face encodings fetched from known table from database</a:t>
                      </a:r>
                      <a:endParaRPr lang="en-IN"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2342" marR="22342"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Known face encodings list and known table should be accessed</a:t>
                      </a:r>
                      <a:endParaRPr lang="en-IN"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2342" marR="22342"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Access the known face encodings list</a:t>
                      </a:r>
                      <a:endParaRPr lang="en-IN"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2342" marR="22342"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Known table face encodings </a:t>
                      </a:r>
                      <a:endParaRPr lang="en-IN"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2342" marR="22342"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List of known face encodings should be access</a:t>
                      </a:r>
                      <a:endParaRPr lang="en-IN"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2342" marR="22342"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List of known face encodings had accessed</a:t>
                      </a:r>
                      <a:endParaRPr lang="en-IN"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2342" marR="22342"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Pass</a:t>
                      </a:r>
                      <a:endParaRPr lang="en-IN"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2342" marR="22342" marT="0" marB="0"/>
                </a:tc>
                <a:extLst>
                  <a:ext uri="{0D108BD9-81ED-4DB2-BD59-A6C34878D82A}">
                    <a16:rowId xmlns:a16="http://schemas.microsoft.com/office/drawing/2014/main" val="2042615068"/>
                  </a:ext>
                </a:extLst>
              </a:tr>
              <a:tr h="1173528">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TC_12</a:t>
                      </a:r>
                      <a:endParaRPr lang="en-IN"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2342" marR="22342"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Start recognition of multiple faces </a:t>
                      </a:r>
                      <a:endParaRPr lang="en-IN"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2342" marR="22342"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Known face encodings list, multiple faces detected by Haar-Cascade Classifier and live video stream using Webcam</a:t>
                      </a:r>
                      <a:endParaRPr lang="en-IN"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2342" marR="22342"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Start recognizing of multiple faces</a:t>
                      </a:r>
                      <a:endParaRPr lang="en-IN"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2342" marR="22342"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Known face encodings list, multiple faces detected by Haar-Cascade Classifier model and Live video stream from Webcam</a:t>
                      </a:r>
                      <a:endParaRPr lang="en-IN"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2342" marR="22342"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Multiple Faces Recognition must be done by the model</a:t>
                      </a:r>
                      <a:endParaRPr lang="en-IN"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2342" marR="22342"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The model has recognized multiple faces</a:t>
                      </a:r>
                      <a:endParaRPr lang="en-IN"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2342" marR="22342"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Pass</a:t>
                      </a:r>
                      <a:endParaRPr lang="en-IN"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2342" marR="22342" marT="0" marB="0"/>
                </a:tc>
                <a:extLst>
                  <a:ext uri="{0D108BD9-81ED-4DB2-BD59-A6C34878D82A}">
                    <a16:rowId xmlns:a16="http://schemas.microsoft.com/office/drawing/2014/main" val="3370721842"/>
                  </a:ext>
                </a:extLst>
              </a:tr>
              <a:tr h="851364">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TC_13</a:t>
                      </a:r>
                      <a:endParaRPr lang="en-IN"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2342" marR="22342"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Update detected movement time in csv file and terminate model</a:t>
                      </a:r>
                      <a:endParaRPr lang="en-IN"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2342" marR="22342"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Time of movement.csv file</a:t>
                      </a:r>
                      <a:endParaRPr lang="en-IN"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2342" marR="22342"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Update time of detected movement by Gaussian-Blur method</a:t>
                      </a:r>
                      <a:endParaRPr lang="en-IN"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2342" marR="22342"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Start and end time of movement</a:t>
                      </a:r>
                      <a:endParaRPr lang="en-IN"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2342" marR="22342"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Time of detected movement should be updated and model has Terminated too.</a:t>
                      </a:r>
                      <a:endParaRPr lang="en-IN"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2342" marR="22342"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Time of movement detected by Gaussian-Blur model has updated and Model has terminated too.</a:t>
                      </a:r>
                      <a:endParaRPr lang="en-IN"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2342" marR="22342" marT="0" marB="0"/>
                </a:tc>
                <a:tc>
                  <a:txBody>
                    <a:bodyPr/>
                    <a:lstStyle/>
                    <a:p>
                      <a:pPr marL="0" marR="0" algn="ctr">
                        <a:lnSpc>
                          <a:spcPct val="107000"/>
                        </a:lnSpc>
                        <a:spcBef>
                          <a:spcPts val="0"/>
                        </a:spcBef>
                        <a:spcAft>
                          <a:spcPts val="0"/>
                        </a:spcAft>
                      </a:pPr>
                      <a:r>
                        <a:rPr lang="en-US" sz="1050" kern="100" dirty="0">
                          <a:effectLst/>
                          <a:latin typeface="Times New Roman" panose="02020603050405020304" pitchFamily="18" charset="0"/>
                          <a:cs typeface="Times New Roman" panose="02020603050405020304" pitchFamily="18" charset="0"/>
                        </a:rPr>
                        <a:t>Pass</a:t>
                      </a:r>
                      <a:endParaRPr lang="en-IN" sz="105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2342" marR="22342" marT="0" marB="0"/>
                </a:tc>
                <a:extLst>
                  <a:ext uri="{0D108BD9-81ED-4DB2-BD59-A6C34878D82A}">
                    <a16:rowId xmlns:a16="http://schemas.microsoft.com/office/drawing/2014/main" val="2093463327"/>
                  </a:ext>
                </a:extLst>
              </a:tr>
            </a:tbl>
          </a:graphicData>
        </a:graphic>
      </p:graphicFrame>
    </p:spTree>
    <p:extLst>
      <p:ext uri="{BB962C8B-B14F-4D97-AF65-F5344CB8AC3E}">
        <p14:creationId xmlns:p14="http://schemas.microsoft.com/office/powerpoint/2010/main" val="25906506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7E75B-12BE-8549-45DC-5CE547413073}"/>
              </a:ext>
            </a:extLst>
          </p:cNvPr>
          <p:cNvSpPr>
            <a:spLocks noGrp="1"/>
          </p:cNvSpPr>
          <p:nvPr>
            <p:ph type="title"/>
          </p:nvPr>
        </p:nvSpPr>
        <p:spPr/>
        <p:txBody>
          <a:bodyPr/>
          <a:lstStyle/>
          <a:p>
            <a:r>
              <a:rPr lang="en-US" dirty="0"/>
              <a:t>Test cases: model (cont.)</a:t>
            </a:r>
            <a:endParaRPr lang="en-IN" dirty="0"/>
          </a:p>
        </p:txBody>
      </p:sp>
      <p:graphicFrame>
        <p:nvGraphicFramePr>
          <p:cNvPr id="7" name="Content Placeholder 6">
            <a:extLst>
              <a:ext uri="{FF2B5EF4-FFF2-40B4-BE49-F238E27FC236}">
                <a16:creationId xmlns:a16="http://schemas.microsoft.com/office/drawing/2014/main" id="{53DAB127-8E75-B3C3-AF67-24A28E46D9DD}"/>
              </a:ext>
            </a:extLst>
          </p:cNvPr>
          <p:cNvGraphicFramePr>
            <a:graphicFrameLocks noGrp="1"/>
          </p:cNvGraphicFramePr>
          <p:nvPr>
            <p:ph idx="1"/>
            <p:extLst>
              <p:ext uri="{D42A27DB-BD31-4B8C-83A1-F6EECF244321}">
                <p14:modId xmlns:p14="http://schemas.microsoft.com/office/powerpoint/2010/main" val="1523834967"/>
              </p:ext>
            </p:extLst>
          </p:nvPr>
        </p:nvGraphicFramePr>
        <p:xfrm>
          <a:off x="523630" y="1352062"/>
          <a:ext cx="11418276" cy="5237080"/>
        </p:xfrm>
        <a:graphic>
          <a:graphicData uri="http://schemas.openxmlformats.org/drawingml/2006/table">
            <a:tbl>
              <a:tblPr firstRow="1" firstCol="1" bandRow="1">
                <a:tableStyleId>{5C22544A-7EE6-4342-B048-85BDC9FD1C3A}</a:tableStyleId>
              </a:tblPr>
              <a:tblGrid>
                <a:gridCol w="1028149">
                  <a:extLst>
                    <a:ext uri="{9D8B030D-6E8A-4147-A177-3AD203B41FA5}">
                      <a16:colId xmlns:a16="http://schemas.microsoft.com/office/drawing/2014/main" val="1762813700"/>
                    </a:ext>
                  </a:extLst>
                </a:gridCol>
                <a:gridCol w="1525217">
                  <a:extLst>
                    <a:ext uri="{9D8B030D-6E8A-4147-A177-3AD203B41FA5}">
                      <a16:colId xmlns:a16="http://schemas.microsoft.com/office/drawing/2014/main" val="1268272619"/>
                    </a:ext>
                  </a:extLst>
                </a:gridCol>
                <a:gridCol w="1766619">
                  <a:extLst>
                    <a:ext uri="{9D8B030D-6E8A-4147-A177-3AD203B41FA5}">
                      <a16:colId xmlns:a16="http://schemas.microsoft.com/office/drawing/2014/main" val="2387735366"/>
                    </a:ext>
                  </a:extLst>
                </a:gridCol>
                <a:gridCol w="1525217">
                  <a:extLst>
                    <a:ext uri="{9D8B030D-6E8A-4147-A177-3AD203B41FA5}">
                      <a16:colId xmlns:a16="http://schemas.microsoft.com/office/drawing/2014/main" val="3612727758"/>
                    </a:ext>
                  </a:extLst>
                </a:gridCol>
                <a:gridCol w="1349653">
                  <a:extLst>
                    <a:ext uri="{9D8B030D-6E8A-4147-A177-3AD203B41FA5}">
                      <a16:colId xmlns:a16="http://schemas.microsoft.com/office/drawing/2014/main" val="370887029"/>
                    </a:ext>
                  </a:extLst>
                </a:gridCol>
                <a:gridCol w="1641527">
                  <a:extLst>
                    <a:ext uri="{9D8B030D-6E8A-4147-A177-3AD203B41FA5}">
                      <a16:colId xmlns:a16="http://schemas.microsoft.com/office/drawing/2014/main" val="2664280211"/>
                    </a:ext>
                  </a:extLst>
                </a:gridCol>
                <a:gridCol w="1641527">
                  <a:extLst>
                    <a:ext uri="{9D8B030D-6E8A-4147-A177-3AD203B41FA5}">
                      <a16:colId xmlns:a16="http://schemas.microsoft.com/office/drawing/2014/main" val="3421346422"/>
                    </a:ext>
                  </a:extLst>
                </a:gridCol>
                <a:gridCol w="940367">
                  <a:extLst>
                    <a:ext uri="{9D8B030D-6E8A-4147-A177-3AD203B41FA5}">
                      <a16:colId xmlns:a16="http://schemas.microsoft.com/office/drawing/2014/main" val="1721666466"/>
                    </a:ext>
                  </a:extLst>
                </a:gridCol>
              </a:tblGrid>
              <a:tr h="671396">
                <a:tc>
                  <a:txBody>
                    <a:bodyPr/>
                    <a:lstStyle/>
                    <a:p>
                      <a:pPr marL="0" marR="0" algn="ctr">
                        <a:lnSpc>
                          <a:spcPct val="107000"/>
                        </a:lnSpc>
                        <a:spcBef>
                          <a:spcPts val="0"/>
                        </a:spcBef>
                        <a:spcAft>
                          <a:spcPts val="0"/>
                        </a:spcAft>
                      </a:pPr>
                      <a:r>
                        <a:rPr lang="en-US" sz="1050" b="1" kern="100" dirty="0">
                          <a:effectLst/>
                          <a:latin typeface="Times New Roman" panose="02020603050405020304" pitchFamily="18" charset="0"/>
                          <a:ea typeface="Calibri" panose="020F0502020204030204" pitchFamily="34" charset="0"/>
                          <a:cs typeface="Mangal" panose="02040503050203030202" pitchFamily="18" charset="0"/>
                        </a:rPr>
                        <a:t>TC_ID</a:t>
                      </a:r>
                      <a:endParaRPr lang="en-IN" sz="1000" kern="1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US" sz="1050" b="1" kern="100" dirty="0">
                          <a:effectLst/>
                          <a:latin typeface="Times New Roman" panose="02020603050405020304" pitchFamily="18" charset="0"/>
                          <a:ea typeface="Calibri" panose="020F0502020204030204" pitchFamily="34" charset="0"/>
                          <a:cs typeface="Mangal" panose="02040503050203030202" pitchFamily="18" charset="0"/>
                        </a:rPr>
                        <a:t>Test Case Objective</a:t>
                      </a:r>
                      <a:endParaRPr lang="en-IN" sz="1000" kern="1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US" sz="1050" b="1" kern="100" dirty="0">
                          <a:effectLst/>
                          <a:latin typeface="Times New Roman" panose="02020603050405020304" pitchFamily="18" charset="0"/>
                          <a:ea typeface="Calibri" panose="020F0502020204030204" pitchFamily="34" charset="0"/>
                          <a:cs typeface="Mangal" panose="02040503050203030202" pitchFamily="18" charset="0"/>
                        </a:rPr>
                        <a:t>Pre-requisites</a:t>
                      </a:r>
                      <a:endParaRPr lang="en-IN" sz="1000" kern="1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US" sz="1050" b="1" kern="100" dirty="0">
                          <a:effectLst/>
                          <a:latin typeface="Times New Roman" panose="02020603050405020304" pitchFamily="18" charset="0"/>
                          <a:ea typeface="Calibri" panose="020F0502020204030204" pitchFamily="34" charset="0"/>
                          <a:cs typeface="Mangal" panose="02040503050203030202" pitchFamily="18" charset="0"/>
                        </a:rPr>
                        <a:t>Steps</a:t>
                      </a:r>
                      <a:endParaRPr lang="en-IN" sz="1000" kern="1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US" sz="1050" b="1" kern="100" dirty="0">
                          <a:effectLst/>
                          <a:latin typeface="Times New Roman" panose="02020603050405020304" pitchFamily="18" charset="0"/>
                          <a:ea typeface="Calibri" panose="020F0502020204030204" pitchFamily="34" charset="0"/>
                          <a:cs typeface="Mangal" panose="02040503050203030202" pitchFamily="18" charset="0"/>
                        </a:rPr>
                        <a:t>Input</a:t>
                      </a:r>
                      <a:endParaRPr lang="en-IN" sz="1000" kern="1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US" sz="1050" b="1" kern="100" dirty="0">
                          <a:effectLst/>
                          <a:latin typeface="Times New Roman" panose="02020603050405020304" pitchFamily="18" charset="0"/>
                          <a:ea typeface="Calibri" panose="020F0502020204030204" pitchFamily="34" charset="0"/>
                          <a:cs typeface="Mangal" panose="02040503050203030202" pitchFamily="18" charset="0"/>
                        </a:rPr>
                        <a:t>Expected Result</a:t>
                      </a:r>
                      <a:endParaRPr lang="en-IN" sz="1000" kern="1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US" sz="1050" b="1" kern="100" dirty="0">
                          <a:effectLst/>
                          <a:latin typeface="Times New Roman" panose="02020603050405020304" pitchFamily="18" charset="0"/>
                          <a:ea typeface="Calibri" panose="020F0502020204030204" pitchFamily="34" charset="0"/>
                          <a:cs typeface="Mangal" panose="02040503050203030202" pitchFamily="18" charset="0"/>
                        </a:rPr>
                        <a:t>Actual Result</a:t>
                      </a:r>
                      <a:endParaRPr lang="en-IN" sz="1000" kern="1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US" sz="1050" b="1" kern="100" dirty="0">
                          <a:effectLst/>
                          <a:latin typeface="Times New Roman" panose="02020603050405020304" pitchFamily="18" charset="0"/>
                          <a:ea typeface="Calibri" panose="020F0502020204030204" pitchFamily="34" charset="0"/>
                          <a:cs typeface="Mangal" panose="02040503050203030202" pitchFamily="18" charset="0"/>
                        </a:rPr>
                        <a:t>Status</a:t>
                      </a:r>
                      <a:endParaRPr lang="en-IN" sz="1000" kern="1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964051936"/>
                  </a:ext>
                </a:extLst>
              </a:tr>
              <a:tr h="671396">
                <a:tc>
                  <a:txBody>
                    <a:bodyPr/>
                    <a:lstStyle/>
                    <a:p>
                      <a:pPr marL="0" marR="0" algn="ctr">
                        <a:lnSpc>
                          <a:spcPct val="107000"/>
                        </a:lnSpc>
                        <a:spcBef>
                          <a:spcPts val="0"/>
                        </a:spcBef>
                        <a:spcAft>
                          <a:spcPts val="0"/>
                        </a:spcAft>
                      </a:pPr>
                      <a:r>
                        <a:rPr lang="en-US" sz="1050" kern="100" dirty="0">
                          <a:effectLst/>
                          <a:latin typeface="Times New Roman" panose="02020603050405020304" pitchFamily="18" charset="0"/>
                          <a:cs typeface="Times New Roman" panose="02020603050405020304" pitchFamily="18" charset="0"/>
                        </a:rPr>
                        <a:t>TC_14</a:t>
                      </a:r>
                      <a:endParaRPr lang="en-IN" sz="105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8065" marR="28065"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Add the newly Detected face </a:t>
                      </a:r>
                      <a:endParaRPr lang="en-IN"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8065" marR="28065"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Newly detected face file, textbox to entry name should be available</a:t>
                      </a:r>
                      <a:endParaRPr lang="en-IN"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8065" marR="28065"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Add name to newly detected face </a:t>
                      </a:r>
                      <a:endParaRPr lang="en-IN"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8065" marR="28065"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Enter name in textbox </a:t>
                      </a:r>
                      <a:endParaRPr lang="en-IN"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8065" marR="28065" marT="0" marB="0"/>
                </a:tc>
                <a:tc>
                  <a:txBody>
                    <a:bodyPr/>
                    <a:lstStyle/>
                    <a:p>
                      <a:pPr marL="0" marR="0" algn="ctr">
                        <a:lnSpc>
                          <a:spcPct val="107000"/>
                        </a:lnSpc>
                        <a:spcBef>
                          <a:spcPts val="0"/>
                        </a:spcBef>
                        <a:spcAft>
                          <a:spcPts val="0"/>
                        </a:spcAft>
                      </a:pPr>
                      <a:r>
                        <a:rPr lang="en-US" sz="1050" kern="100" dirty="0">
                          <a:effectLst/>
                          <a:latin typeface="Times New Roman" panose="02020603050405020304" pitchFamily="18" charset="0"/>
                          <a:cs typeface="Times New Roman" panose="02020603050405020304" pitchFamily="18" charset="0"/>
                        </a:rPr>
                        <a:t>Name of newly detected face should be entered</a:t>
                      </a:r>
                      <a:endParaRPr lang="en-IN" sz="105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8065" marR="28065" marT="0" marB="0"/>
                </a:tc>
                <a:tc>
                  <a:txBody>
                    <a:bodyPr/>
                    <a:lstStyle/>
                    <a:p>
                      <a:pPr marL="0" marR="0" algn="ctr">
                        <a:lnSpc>
                          <a:spcPct val="107000"/>
                        </a:lnSpc>
                        <a:spcBef>
                          <a:spcPts val="0"/>
                        </a:spcBef>
                        <a:spcAft>
                          <a:spcPts val="0"/>
                        </a:spcAft>
                      </a:pPr>
                      <a:r>
                        <a:rPr lang="en-US" sz="1050" kern="100" dirty="0">
                          <a:effectLst/>
                          <a:latin typeface="Times New Roman" panose="02020603050405020304" pitchFamily="18" charset="0"/>
                          <a:cs typeface="Times New Roman" panose="02020603050405020304" pitchFamily="18" charset="0"/>
                        </a:rPr>
                        <a:t>Name of newly detected face had entered</a:t>
                      </a:r>
                      <a:endParaRPr lang="en-IN" sz="105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8065" marR="28065"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Pass</a:t>
                      </a:r>
                      <a:endParaRPr lang="en-IN"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8065" marR="28065" marT="0" marB="0"/>
                </a:tc>
                <a:extLst>
                  <a:ext uri="{0D108BD9-81ED-4DB2-BD59-A6C34878D82A}">
                    <a16:rowId xmlns:a16="http://schemas.microsoft.com/office/drawing/2014/main" val="2868002751"/>
                  </a:ext>
                </a:extLst>
              </a:tr>
              <a:tr h="1235210">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TC_15</a:t>
                      </a:r>
                      <a:endParaRPr lang="en-IN"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8065" marR="28065"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Check whether the enter name is present in database</a:t>
                      </a:r>
                      <a:endParaRPr lang="en-IN"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8065" marR="28065" marT="0" marB="0"/>
                </a:tc>
                <a:tc>
                  <a:txBody>
                    <a:bodyPr/>
                    <a:lstStyle/>
                    <a:p>
                      <a:pPr marL="0" marR="0" algn="ctr">
                        <a:lnSpc>
                          <a:spcPct val="107000"/>
                        </a:lnSpc>
                        <a:spcBef>
                          <a:spcPts val="0"/>
                        </a:spcBef>
                        <a:spcAft>
                          <a:spcPts val="0"/>
                        </a:spcAft>
                      </a:pPr>
                      <a:r>
                        <a:rPr lang="en-US" sz="1050" kern="100" dirty="0">
                          <a:effectLst/>
                          <a:latin typeface="Times New Roman" panose="02020603050405020304" pitchFamily="18" charset="0"/>
                          <a:cs typeface="Times New Roman" panose="02020603050405020304" pitchFamily="18" charset="0"/>
                        </a:rPr>
                        <a:t>Known table should be available</a:t>
                      </a:r>
                      <a:endParaRPr lang="en-IN" sz="105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8065" marR="28065"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Check whether name is duplicate</a:t>
                      </a:r>
                      <a:endParaRPr lang="en-IN"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8065" marR="28065"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Name entered in textbox</a:t>
                      </a:r>
                      <a:endParaRPr lang="en-IN"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8065" marR="28065"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If available show message “Name already present in database. Enter their name with surname or nickname”</a:t>
                      </a:r>
                      <a:endParaRPr lang="en-IN"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8065" marR="28065"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Message shown as “name already present in database. Enter their name with surname or nickname”</a:t>
                      </a:r>
                      <a:endParaRPr lang="en-IN"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8065" marR="28065"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Pass</a:t>
                      </a:r>
                      <a:endParaRPr lang="en-IN"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8065" marR="28065" marT="0" marB="0"/>
                </a:tc>
                <a:extLst>
                  <a:ext uri="{0D108BD9-81ED-4DB2-BD59-A6C34878D82A}">
                    <a16:rowId xmlns:a16="http://schemas.microsoft.com/office/drawing/2014/main" val="899803403"/>
                  </a:ext>
                </a:extLst>
              </a:tr>
              <a:tr h="977998">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TC_16</a:t>
                      </a:r>
                      <a:endParaRPr lang="en-IN"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8065" marR="28065"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Register name with face encodings in known table if name is unique and show message</a:t>
                      </a:r>
                      <a:endParaRPr lang="en-IN"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8065" marR="28065"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Known table, face encodings of newly detected face from unknown table and message label</a:t>
                      </a:r>
                      <a:endParaRPr lang="en-IN"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8065" marR="28065"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Registered name with face encodings in the known table</a:t>
                      </a:r>
                      <a:endParaRPr lang="en-IN"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8065" marR="28065"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Newly detected face encodings from unknown table and unique name</a:t>
                      </a:r>
                      <a:endParaRPr lang="en-IN"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8065" marR="28065"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Insert newly detected face encodings with their name and show message “Name registered successfully”</a:t>
                      </a:r>
                      <a:endParaRPr lang="en-IN"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8065" marR="28065"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Newly detected face encodings with their name registered and message shown as “Name registered successfully”</a:t>
                      </a:r>
                      <a:endParaRPr lang="en-IN"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8065" marR="28065"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Pass</a:t>
                      </a:r>
                      <a:endParaRPr lang="en-IN"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8065" marR="28065" marT="0" marB="0"/>
                </a:tc>
                <a:extLst>
                  <a:ext uri="{0D108BD9-81ED-4DB2-BD59-A6C34878D82A}">
                    <a16:rowId xmlns:a16="http://schemas.microsoft.com/office/drawing/2014/main" val="3650565757"/>
                  </a:ext>
                </a:extLst>
              </a:tr>
              <a:tr h="671396">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TC_17</a:t>
                      </a:r>
                      <a:endParaRPr lang="en-IN"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8065" marR="28065"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Enter name to search in database for updating name</a:t>
                      </a:r>
                      <a:endParaRPr lang="en-IN"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8065" marR="28065"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Name textbox to search name in table and known table</a:t>
                      </a:r>
                      <a:endParaRPr lang="en-IN"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8065" marR="28065"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Enter name to search in the known table</a:t>
                      </a:r>
                      <a:endParaRPr lang="en-IN"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8065" marR="28065"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Person’s name</a:t>
                      </a:r>
                      <a:endParaRPr lang="en-IN"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8065" marR="28065"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Person’s name should be entered</a:t>
                      </a:r>
                      <a:endParaRPr lang="en-IN"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8065" marR="28065"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Person’s name has entered</a:t>
                      </a:r>
                      <a:endParaRPr lang="en-IN"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8065" marR="28065"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Pass</a:t>
                      </a:r>
                      <a:endParaRPr lang="en-IN"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8065" marR="28065" marT="0" marB="0"/>
                </a:tc>
                <a:extLst>
                  <a:ext uri="{0D108BD9-81ED-4DB2-BD59-A6C34878D82A}">
                    <a16:rowId xmlns:a16="http://schemas.microsoft.com/office/drawing/2014/main" val="8953635"/>
                  </a:ext>
                </a:extLst>
              </a:tr>
              <a:tr h="1009684">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TC_18</a:t>
                      </a:r>
                      <a:endParaRPr lang="en-IN"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8065" marR="28065"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is name not present in database then show message</a:t>
                      </a:r>
                      <a:endParaRPr lang="en-IN"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8065" marR="28065"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Message label, person’s name and known table</a:t>
                      </a:r>
                      <a:endParaRPr lang="en-IN"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8065" marR="28065"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Check whether name is present in database</a:t>
                      </a:r>
                      <a:endParaRPr lang="en-IN"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8065" marR="28065"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Person’s name</a:t>
                      </a:r>
                      <a:endParaRPr lang="en-IN"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8065" marR="28065"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If not available show message “Name not present in database. Enter a valid name”</a:t>
                      </a:r>
                      <a:endParaRPr lang="en-IN"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8065" marR="28065"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Message shown as “Name not present in database. Enter a valid name” for invalid name</a:t>
                      </a:r>
                      <a:endParaRPr lang="en-IN"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28065" marR="28065" marT="0" marB="0"/>
                </a:tc>
                <a:tc>
                  <a:txBody>
                    <a:bodyPr/>
                    <a:lstStyle/>
                    <a:p>
                      <a:pPr marL="0" marR="0" algn="ctr">
                        <a:lnSpc>
                          <a:spcPct val="107000"/>
                        </a:lnSpc>
                        <a:spcBef>
                          <a:spcPts val="0"/>
                        </a:spcBef>
                        <a:spcAft>
                          <a:spcPts val="0"/>
                        </a:spcAft>
                      </a:pPr>
                      <a:r>
                        <a:rPr lang="en-US" sz="1050" kern="100" dirty="0">
                          <a:effectLst/>
                          <a:latin typeface="Times New Roman" panose="02020603050405020304" pitchFamily="18" charset="0"/>
                          <a:cs typeface="Times New Roman" panose="02020603050405020304" pitchFamily="18" charset="0"/>
                        </a:rPr>
                        <a:t>Pass</a:t>
                      </a:r>
                      <a:endParaRPr lang="en-IN" sz="105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8065" marR="28065" marT="0" marB="0"/>
                </a:tc>
                <a:extLst>
                  <a:ext uri="{0D108BD9-81ED-4DB2-BD59-A6C34878D82A}">
                    <a16:rowId xmlns:a16="http://schemas.microsoft.com/office/drawing/2014/main" val="3654612243"/>
                  </a:ext>
                </a:extLst>
              </a:tr>
            </a:tbl>
          </a:graphicData>
        </a:graphic>
      </p:graphicFrame>
    </p:spTree>
    <p:extLst>
      <p:ext uri="{BB962C8B-B14F-4D97-AF65-F5344CB8AC3E}">
        <p14:creationId xmlns:p14="http://schemas.microsoft.com/office/powerpoint/2010/main" val="5165517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1F951-C0D2-FD0E-BC5B-DFEDB2D7D6EA}"/>
              </a:ext>
            </a:extLst>
          </p:cNvPr>
          <p:cNvSpPr>
            <a:spLocks noGrp="1"/>
          </p:cNvSpPr>
          <p:nvPr>
            <p:ph type="title"/>
          </p:nvPr>
        </p:nvSpPr>
        <p:spPr/>
        <p:txBody>
          <a:bodyPr/>
          <a:lstStyle/>
          <a:p>
            <a:r>
              <a:rPr lang="en-US" dirty="0"/>
              <a:t>Test cases: model (cont.)</a:t>
            </a:r>
            <a:endParaRPr lang="en-IN" dirty="0"/>
          </a:p>
        </p:txBody>
      </p:sp>
      <p:graphicFrame>
        <p:nvGraphicFramePr>
          <p:cNvPr id="4" name="Content Placeholder 3">
            <a:extLst>
              <a:ext uri="{FF2B5EF4-FFF2-40B4-BE49-F238E27FC236}">
                <a16:creationId xmlns:a16="http://schemas.microsoft.com/office/drawing/2014/main" id="{C8E84D97-179B-E529-54AB-E3184C10B35B}"/>
              </a:ext>
            </a:extLst>
          </p:cNvPr>
          <p:cNvGraphicFramePr>
            <a:graphicFrameLocks noGrp="1"/>
          </p:cNvGraphicFramePr>
          <p:nvPr>
            <p:ph idx="1"/>
            <p:extLst>
              <p:ext uri="{D42A27DB-BD31-4B8C-83A1-F6EECF244321}">
                <p14:modId xmlns:p14="http://schemas.microsoft.com/office/powerpoint/2010/main" val="1418787553"/>
              </p:ext>
            </p:extLst>
          </p:nvPr>
        </p:nvGraphicFramePr>
        <p:xfrm>
          <a:off x="382385" y="1413164"/>
          <a:ext cx="11039303" cy="5045508"/>
        </p:xfrm>
        <a:graphic>
          <a:graphicData uri="http://schemas.openxmlformats.org/drawingml/2006/table">
            <a:tbl>
              <a:tblPr firstRow="1" firstCol="1" bandRow="1">
                <a:tableStyleId>{5C22544A-7EE6-4342-B048-85BDC9FD1C3A}</a:tableStyleId>
              </a:tblPr>
              <a:tblGrid>
                <a:gridCol w="994027">
                  <a:extLst>
                    <a:ext uri="{9D8B030D-6E8A-4147-A177-3AD203B41FA5}">
                      <a16:colId xmlns:a16="http://schemas.microsoft.com/office/drawing/2014/main" val="292302231"/>
                    </a:ext>
                  </a:extLst>
                </a:gridCol>
                <a:gridCol w="1474595">
                  <a:extLst>
                    <a:ext uri="{9D8B030D-6E8A-4147-A177-3AD203B41FA5}">
                      <a16:colId xmlns:a16="http://schemas.microsoft.com/office/drawing/2014/main" val="1924119442"/>
                    </a:ext>
                  </a:extLst>
                </a:gridCol>
                <a:gridCol w="1707985">
                  <a:extLst>
                    <a:ext uri="{9D8B030D-6E8A-4147-A177-3AD203B41FA5}">
                      <a16:colId xmlns:a16="http://schemas.microsoft.com/office/drawing/2014/main" val="2445498027"/>
                    </a:ext>
                  </a:extLst>
                </a:gridCol>
                <a:gridCol w="1474595">
                  <a:extLst>
                    <a:ext uri="{9D8B030D-6E8A-4147-A177-3AD203B41FA5}">
                      <a16:colId xmlns:a16="http://schemas.microsoft.com/office/drawing/2014/main" val="534550571"/>
                    </a:ext>
                  </a:extLst>
                </a:gridCol>
                <a:gridCol w="1304855">
                  <a:extLst>
                    <a:ext uri="{9D8B030D-6E8A-4147-A177-3AD203B41FA5}">
                      <a16:colId xmlns:a16="http://schemas.microsoft.com/office/drawing/2014/main" val="316557352"/>
                    </a:ext>
                  </a:extLst>
                </a:gridCol>
                <a:gridCol w="1587045">
                  <a:extLst>
                    <a:ext uri="{9D8B030D-6E8A-4147-A177-3AD203B41FA5}">
                      <a16:colId xmlns:a16="http://schemas.microsoft.com/office/drawing/2014/main" val="3420283299"/>
                    </a:ext>
                  </a:extLst>
                </a:gridCol>
                <a:gridCol w="1587045">
                  <a:extLst>
                    <a:ext uri="{9D8B030D-6E8A-4147-A177-3AD203B41FA5}">
                      <a16:colId xmlns:a16="http://schemas.microsoft.com/office/drawing/2014/main" val="2841959780"/>
                    </a:ext>
                  </a:extLst>
                </a:gridCol>
                <a:gridCol w="909156">
                  <a:extLst>
                    <a:ext uri="{9D8B030D-6E8A-4147-A177-3AD203B41FA5}">
                      <a16:colId xmlns:a16="http://schemas.microsoft.com/office/drawing/2014/main" val="1100580975"/>
                    </a:ext>
                  </a:extLst>
                </a:gridCol>
              </a:tblGrid>
              <a:tr h="867835">
                <a:tc>
                  <a:txBody>
                    <a:bodyPr/>
                    <a:lstStyle/>
                    <a:p>
                      <a:pPr marL="0" marR="0" algn="ctr">
                        <a:lnSpc>
                          <a:spcPct val="107000"/>
                        </a:lnSpc>
                        <a:spcBef>
                          <a:spcPts val="0"/>
                        </a:spcBef>
                        <a:spcAft>
                          <a:spcPts val="0"/>
                        </a:spcAft>
                      </a:pPr>
                      <a:r>
                        <a:rPr lang="en-US" sz="1600" b="1" kern="100" dirty="0">
                          <a:effectLst/>
                          <a:latin typeface="Times New Roman" panose="02020603050405020304" pitchFamily="18" charset="0"/>
                          <a:ea typeface="Calibri" panose="020F0502020204030204" pitchFamily="34" charset="0"/>
                          <a:cs typeface="Times New Roman" panose="02020603050405020304" pitchFamily="18" charset="0"/>
                        </a:rPr>
                        <a:t>TC_ID</a:t>
                      </a:r>
                      <a:endParaRPr lang="en-IN"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600" b="1" kern="100" dirty="0">
                          <a:effectLst/>
                          <a:latin typeface="Times New Roman" panose="02020603050405020304" pitchFamily="18" charset="0"/>
                          <a:ea typeface="Calibri" panose="020F0502020204030204" pitchFamily="34" charset="0"/>
                          <a:cs typeface="Times New Roman" panose="02020603050405020304" pitchFamily="18" charset="0"/>
                        </a:rPr>
                        <a:t>Test Case Objective</a:t>
                      </a:r>
                      <a:endParaRPr lang="en-IN"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600" b="1" kern="100" dirty="0">
                          <a:effectLst/>
                          <a:latin typeface="Times New Roman" panose="02020603050405020304" pitchFamily="18" charset="0"/>
                          <a:ea typeface="Calibri" panose="020F0502020204030204" pitchFamily="34" charset="0"/>
                          <a:cs typeface="Times New Roman" panose="02020603050405020304" pitchFamily="18" charset="0"/>
                        </a:rPr>
                        <a:t>Pre-requisites</a:t>
                      </a:r>
                      <a:endParaRPr lang="en-IN"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600" b="1" kern="100" dirty="0">
                          <a:effectLst/>
                          <a:latin typeface="Times New Roman" panose="02020603050405020304" pitchFamily="18" charset="0"/>
                          <a:ea typeface="Calibri" panose="020F0502020204030204" pitchFamily="34" charset="0"/>
                          <a:cs typeface="Times New Roman" panose="02020603050405020304" pitchFamily="18" charset="0"/>
                        </a:rPr>
                        <a:t>Steps</a:t>
                      </a:r>
                      <a:endParaRPr lang="en-IN"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600" b="1" kern="100" dirty="0">
                          <a:effectLst/>
                          <a:latin typeface="Times New Roman" panose="02020603050405020304" pitchFamily="18" charset="0"/>
                          <a:ea typeface="Calibri" panose="020F0502020204030204" pitchFamily="34" charset="0"/>
                          <a:cs typeface="Times New Roman" panose="02020603050405020304" pitchFamily="18" charset="0"/>
                        </a:rPr>
                        <a:t>Input</a:t>
                      </a:r>
                      <a:endParaRPr lang="en-IN"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600" b="1" kern="100" dirty="0">
                          <a:effectLst/>
                          <a:latin typeface="Times New Roman" panose="02020603050405020304" pitchFamily="18" charset="0"/>
                          <a:ea typeface="Calibri" panose="020F0502020204030204" pitchFamily="34" charset="0"/>
                          <a:cs typeface="Times New Roman" panose="02020603050405020304" pitchFamily="18" charset="0"/>
                        </a:rPr>
                        <a:t>Expected Result</a:t>
                      </a:r>
                      <a:endParaRPr lang="en-IN"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600" b="1" kern="100" dirty="0">
                          <a:effectLst/>
                          <a:latin typeface="Times New Roman" panose="02020603050405020304" pitchFamily="18" charset="0"/>
                          <a:ea typeface="Calibri" panose="020F0502020204030204" pitchFamily="34" charset="0"/>
                          <a:cs typeface="Times New Roman" panose="02020603050405020304" pitchFamily="18" charset="0"/>
                        </a:rPr>
                        <a:t>Actual Result</a:t>
                      </a:r>
                      <a:endParaRPr lang="en-IN"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600" b="1" kern="100" dirty="0">
                          <a:effectLst/>
                          <a:latin typeface="Times New Roman" panose="02020603050405020304" pitchFamily="18" charset="0"/>
                          <a:ea typeface="Calibri" panose="020F0502020204030204" pitchFamily="34" charset="0"/>
                          <a:cs typeface="Times New Roman" panose="02020603050405020304" pitchFamily="18" charset="0"/>
                        </a:rPr>
                        <a:t>Status</a:t>
                      </a:r>
                      <a:endParaRPr lang="en-IN"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9482899"/>
                  </a:ext>
                </a:extLst>
              </a:tr>
              <a:tr h="1021703">
                <a:tc>
                  <a:txBody>
                    <a:bodyPr/>
                    <a:lstStyle/>
                    <a:p>
                      <a:pPr marL="0" marR="0" algn="ctr">
                        <a:lnSpc>
                          <a:spcPct val="107000"/>
                        </a:lnSpc>
                        <a:spcBef>
                          <a:spcPts val="0"/>
                        </a:spcBef>
                        <a:spcAft>
                          <a:spcPts val="0"/>
                        </a:spcAft>
                      </a:pPr>
                      <a:r>
                        <a:rPr lang="en-US" sz="1050" kern="100" dirty="0">
                          <a:effectLst/>
                          <a:latin typeface="Times New Roman" panose="02020603050405020304" pitchFamily="18" charset="0"/>
                          <a:cs typeface="Times New Roman" panose="02020603050405020304" pitchFamily="18" charset="0"/>
                        </a:rPr>
                        <a:t>TC_19</a:t>
                      </a:r>
                      <a:endParaRPr lang="en-IN" sz="1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8892" marR="38892"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If present show the face to enter the updated name</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8892" marR="38892"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Face label and new name textbox</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8892" marR="38892"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Show face of search name to update his/her name</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8892" marR="38892"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Person’s name</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8892" marR="38892"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Name present in database and accept the new update name of person </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8892" marR="38892"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Updated name of person has accepted by the model</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8892" marR="38892"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Pass</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8892" marR="38892" marT="0" marB="0"/>
                </a:tc>
                <a:extLst>
                  <a:ext uri="{0D108BD9-81ED-4DB2-BD59-A6C34878D82A}">
                    <a16:rowId xmlns:a16="http://schemas.microsoft.com/office/drawing/2014/main" val="1799405953"/>
                  </a:ext>
                </a:extLst>
              </a:tr>
              <a:tr h="1663883">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TC_20</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8892" marR="38892"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Check whether name is present in database and show message</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8892" marR="38892"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Known table, message label and person’s updated name</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8892" marR="38892"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Check whether name is duplicate</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8892" marR="38892"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Person’s updated name</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8892" marR="38892"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If present then show message “Name already present in database. Enter their name with surname or nickname”</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8892" marR="38892"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Message shown for present name in database as “Name already present in database. Enter their name with surname or nickname”</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8892" marR="38892"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Pass</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8892" marR="38892" marT="0" marB="0"/>
                </a:tc>
                <a:extLst>
                  <a:ext uri="{0D108BD9-81ED-4DB2-BD59-A6C34878D82A}">
                    <a16:rowId xmlns:a16="http://schemas.microsoft.com/office/drawing/2014/main" val="3141302904"/>
                  </a:ext>
                </a:extLst>
              </a:tr>
              <a:tr h="1492087">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TC_21</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8892" marR="38892"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If not update name in database and show message</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8892" marR="38892"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Known table, message label and person’s updated name</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8892" marR="38892"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Update person’s unique name in known table </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8892" marR="38892"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Person’s updated name</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8892" marR="38892"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Update person’s new name using MySQL DML update query and show message as “Name updated successfully”</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8892" marR="38892" marT="0" marB="0"/>
                </a:tc>
                <a:tc>
                  <a:txBody>
                    <a:bodyPr/>
                    <a:lstStyle/>
                    <a:p>
                      <a:pPr marL="0" marR="0" algn="ctr">
                        <a:lnSpc>
                          <a:spcPct val="107000"/>
                        </a:lnSpc>
                        <a:spcBef>
                          <a:spcPts val="0"/>
                        </a:spcBef>
                        <a:spcAft>
                          <a:spcPts val="0"/>
                        </a:spcAft>
                      </a:pPr>
                      <a:r>
                        <a:rPr lang="en-US" sz="1050" kern="100">
                          <a:effectLst/>
                          <a:latin typeface="Times New Roman" panose="02020603050405020304" pitchFamily="18" charset="0"/>
                          <a:cs typeface="Times New Roman" panose="02020603050405020304" pitchFamily="18" charset="0"/>
                        </a:rPr>
                        <a:t>Message shown as “Name updated successfully” for uniquely updated person’s name</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8892" marR="38892" marT="0" marB="0"/>
                </a:tc>
                <a:tc>
                  <a:txBody>
                    <a:bodyPr/>
                    <a:lstStyle/>
                    <a:p>
                      <a:pPr marL="0" marR="0" algn="ctr">
                        <a:lnSpc>
                          <a:spcPct val="107000"/>
                        </a:lnSpc>
                        <a:spcBef>
                          <a:spcPts val="0"/>
                        </a:spcBef>
                        <a:spcAft>
                          <a:spcPts val="0"/>
                        </a:spcAft>
                      </a:pPr>
                      <a:r>
                        <a:rPr lang="en-US" sz="1050" kern="100" dirty="0">
                          <a:effectLst/>
                          <a:latin typeface="Times New Roman" panose="02020603050405020304" pitchFamily="18" charset="0"/>
                          <a:cs typeface="Times New Roman" panose="02020603050405020304" pitchFamily="18" charset="0"/>
                        </a:rPr>
                        <a:t>Pass</a:t>
                      </a:r>
                      <a:endParaRPr lang="en-IN" sz="1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8892" marR="38892" marT="0" marB="0"/>
                </a:tc>
                <a:extLst>
                  <a:ext uri="{0D108BD9-81ED-4DB2-BD59-A6C34878D82A}">
                    <a16:rowId xmlns:a16="http://schemas.microsoft.com/office/drawing/2014/main" val="1663726291"/>
                  </a:ext>
                </a:extLst>
              </a:tr>
            </a:tbl>
          </a:graphicData>
        </a:graphic>
      </p:graphicFrame>
    </p:spTree>
    <p:extLst>
      <p:ext uri="{BB962C8B-B14F-4D97-AF65-F5344CB8AC3E}">
        <p14:creationId xmlns:p14="http://schemas.microsoft.com/office/powerpoint/2010/main" val="1390010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64140-F059-FCC8-44C8-77B2A6EAB489}"/>
              </a:ext>
            </a:extLst>
          </p:cNvPr>
          <p:cNvSpPr>
            <a:spLocks noGrp="1"/>
          </p:cNvSpPr>
          <p:nvPr>
            <p:ph type="title"/>
          </p:nvPr>
        </p:nvSpPr>
        <p:spPr/>
        <p:txBody>
          <a:bodyPr/>
          <a:lstStyle/>
          <a:p>
            <a:r>
              <a:rPr lang="en-US" dirty="0"/>
              <a:t>Applications</a:t>
            </a:r>
            <a:endParaRPr lang="en-IN" dirty="0"/>
          </a:p>
        </p:txBody>
      </p:sp>
      <p:sp>
        <p:nvSpPr>
          <p:cNvPr id="3" name="Content Placeholder 2">
            <a:extLst>
              <a:ext uri="{FF2B5EF4-FFF2-40B4-BE49-F238E27FC236}">
                <a16:creationId xmlns:a16="http://schemas.microsoft.com/office/drawing/2014/main" id="{8214E114-D474-CA3A-F334-F8ECA46661E1}"/>
              </a:ext>
            </a:extLst>
          </p:cNvPr>
          <p:cNvSpPr>
            <a:spLocks noGrp="1"/>
          </p:cNvSpPr>
          <p:nvPr>
            <p:ph idx="1"/>
          </p:nvPr>
        </p:nvSpPr>
        <p:spPr>
          <a:xfrm>
            <a:off x="913776" y="1562793"/>
            <a:ext cx="10300094" cy="5178829"/>
          </a:xfrm>
        </p:spPr>
        <p:txBody>
          <a:bodyPr>
            <a:normAutofit/>
          </a:bodyPr>
          <a:lstStyle/>
          <a:p>
            <a:pPr marL="0" marR="0" algn="just">
              <a:lnSpc>
                <a:spcPct val="107000"/>
              </a:lnSpc>
              <a:spcBef>
                <a:spcPts val="0"/>
              </a:spcBef>
              <a:spcAft>
                <a:spcPts val="800"/>
              </a:spcAft>
            </a:pPr>
            <a:r>
              <a:rPr lang="en-IN" sz="1800" b="1" kern="100" cap="none" dirty="0">
                <a:effectLst/>
                <a:latin typeface="Times New Roman" panose="02020603050405020304" pitchFamily="18" charset="0"/>
                <a:ea typeface="Calibri" panose="020F0502020204030204" pitchFamily="34" charset="0"/>
                <a:cs typeface="Times New Roman" panose="02020603050405020304" pitchFamily="18" charset="0"/>
              </a:rPr>
              <a:t>Smart Automation</a:t>
            </a:r>
            <a:r>
              <a:rPr lang="en-IN" sz="1800" kern="100" cap="none" dirty="0">
                <a:effectLst/>
                <a:latin typeface="Times New Roman" panose="02020603050405020304" pitchFamily="18" charset="0"/>
                <a:ea typeface="Calibri" panose="020F0502020204030204" pitchFamily="34" charset="0"/>
                <a:cs typeface="Times New Roman" panose="02020603050405020304" pitchFamily="18" charset="0"/>
              </a:rPr>
              <a:t>: Motion detection and multiple faces identification can be integrated into various automation systems, such as smart homes and offices. By automatically detecting motion, these technologies can trigger specific actions, such as turning on lights, adjusting temperature, or activating security alarms, enhancing convenience and energy efficiency.</a:t>
            </a:r>
          </a:p>
          <a:p>
            <a:pPr marL="0" marR="0" algn="just">
              <a:lnSpc>
                <a:spcPct val="107000"/>
              </a:lnSpc>
              <a:spcBef>
                <a:spcPts val="0"/>
              </a:spcBef>
              <a:spcAft>
                <a:spcPts val="800"/>
              </a:spcAft>
            </a:pPr>
            <a:r>
              <a:rPr lang="en-IN" sz="1800" b="1" kern="100" cap="none" dirty="0">
                <a:effectLst/>
                <a:latin typeface="Times New Roman" panose="02020603050405020304" pitchFamily="18" charset="0"/>
                <a:ea typeface="Calibri" panose="020F0502020204030204" pitchFamily="34" charset="0"/>
                <a:cs typeface="Times New Roman" panose="02020603050405020304" pitchFamily="18" charset="0"/>
              </a:rPr>
              <a:t>Personalized Experiences</a:t>
            </a:r>
            <a:r>
              <a:rPr lang="en-IN" sz="1800" kern="100" cap="none" dirty="0">
                <a:effectLst/>
                <a:latin typeface="Times New Roman" panose="02020603050405020304" pitchFamily="18" charset="0"/>
                <a:ea typeface="Calibri" panose="020F0502020204030204" pitchFamily="34" charset="0"/>
                <a:cs typeface="Times New Roman" panose="02020603050405020304" pitchFamily="18" charset="0"/>
              </a:rPr>
              <a:t>: Multiple faces identification can be used to provide personalized experiences in various settings. For instance, in retail environments, it can enable targeted advertisements or personalized greetings for frequent customers, enhancing customer satisfaction and engagement.</a:t>
            </a:r>
          </a:p>
          <a:p>
            <a:pPr marL="0" marR="0" algn="just">
              <a:lnSpc>
                <a:spcPct val="107000"/>
              </a:lnSpc>
              <a:spcBef>
                <a:spcPts val="0"/>
              </a:spcBef>
              <a:spcAft>
                <a:spcPts val="800"/>
              </a:spcAft>
            </a:pPr>
            <a:r>
              <a:rPr lang="en-IN" sz="1800" b="1" kern="100" cap="none" dirty="0">
                <a:effectLst/>
                <a:latin typeface="Times New Roman" panose="02020603050405020304" pitchFamily="18" charset="0"/>
                <a:ea typeface="Calibri" panose="020F0502020204030204" pitchFamily="34" charset="0"/>
                <a:cs typeface="Times New Roman" panose="02020603050405020304" pitchFamily="18" charset="0"/>
              </a:rPr>
              <a:t>Optimized </a:t>
            </a:r>
            <a:r>
              <a:rPr lang="en-IN" sz="1800" b="1" kern="100" cap="none" dirty="0">
                <a:latin typeface="Times New Roman" panose="02020603050405020304" pitchFamily="18" charset="0"/>
                <a:ea typeface="Calibri" panose="020F0502020204030204" pitchFamily="34" charset="0"/>
                <a:cs typeface="Times New Roman" panose="02020603050405020304" pitchFamily="18" charset="0"/>
              </a:rPr>
              <a:t>R</a:t>
            </a:r>
            <a:r>
              <a:rPr lang="en-IN" sz="1800" b="1" kern="100" cap="none" dirty="0">
                <a:effectLst/>
                <a:latin typeface="Times New Roman" panose="02020603050405020304" pitchFamily="18" charset="0"/>
                <a:ea typeface="Calibri" panose="020F0502020204030204" pitchFamily="34" charset="0"/>
                <a:cs typeface="Times New Roman" panose="02020603050405020304" pitchFamily="18" charset="0"/>
              </a:rPr>
              <a:t>esource Allocation</a:t>
            </a:r>
            <a:r>
              <a:rPr lang="en-IN" sz="1800" kern="100" cap="none" dirty="0">
                <a:effectLst/>
                <a:latin typeface="Times New Roman" panose="02020603050405020304" pitchFamily="18" charset="0"/>
                <a:ea typeface="Calibri" panose="020F0502020204030204" pitchFamily="34" charset="0"/>
                <a:cs typeface="Times New Roman" panose="02020603050405020304" pitchFamily="18" charset="0"/>
              </a:rPr>
              <a:t>: Motion detection helps optimize the allocation of resources in various sectors. For example, in traffic management, it can identify congested areas, allowing authorities to deploy resources efficiently and improve traffic flow.</a:t>
            </a:r>
          </a:p>
          <a:p>
            <a:pPr marL="0" marR="0" algn="just">
              <a:lnSpc>
                <a:spcPct val="107000"/>
              </a:lnSpc>
              <a:spcBef>
                <a:spcPts val="0"/>
              </a:spcBef>
              <a:spcAft>
                <a:spcPts val="800"/>
              </a:spcAft>
            </a:pPr>
            <a:r>
              <a:rPr lang="en-IN" sz="1800" b="1" kern="100" cap="none" dirty="0">
                <a:effectLst/>
                <a:latin typeface="Times New Roman" panose="02020603050405020304" pitchFamily="18" charset="0"/>
                <a:ea typeface="Calibri" panose="020F0502020204030204" pitchFamily="34" charset="0"/>
                <a:cs typeface="Times New Roman" panose="02020603050405020304" pitchFamily="18" charset="0"/>
              </a:rPr>
              <a:t>Emergency Response</a:t>
            </a:r>
            <a:r>
              <a:rPr lang="en-IN" sz="1800" kern="100" cap="none" dirty="0">
                <a:effectLst/>
                <a:latin typeface="Times New Roman" panose="02020603050405020304" pitchFamily="18" charset="0"/>
                <a:ea typeface="Calibri" panose="020F0502020204030204" pitchFamily="34" charset="0"/>
                <a:cs typeface="Times New Roman" panose="02020603050405020304" pitchFamily="18" charset="0"/>
              </a:rPr>
              <a:t>: Motion detection and multiple faces identification can aid emergency response systems. By quickly identifying the presence of individuals in distress or danger, these technologies can trigger alerts and ensure prompt assistance, potentially saving lives.</a:t>
            </a:r>
          </a:p>
          <a:p>
            <a:endParaRPr lang="en-IN" dirty="0"/>
          </a:p>
        </p:txBody>
      </p:sp>
    </p:spTree>
    <p:extLst>
      <p:ext uri="{BB962C8B-B14F-4D97-AF65-F5344CB8AC3E}">
        <p14:creationId xmlns:p14="http://schemas.microsoft.com/office/powerpoint/2010/main" val="40976274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72593-C7DA-E5B5-3823-927D84DBD5AA}"/>
              </a:ext>
            </a:extLst>
          </p:cNvPr>
          <p:cNvSpPr>
            <a:spLocks noGrp="1"/>
          </p:cNvSpPr>
          <p:nvPr>
            <p:ph type="title"/>
          </p:nvPr>
        </p:nvSpPr>
        <p:spPr/>
        <p:txBody>
          <a:bodyPr/>
          <a:lstStyle/>
          <a:p>
            <a:r>
              <a:rPr lang="en-US" dirty="0"/>
              <a:t>Applications (cont.)</a:t>
            </a:r>
            <a:endParaRPr lang="en-IN" dirty="0"/>
          </a:p>
        </p:txBody>
      </p:sp>
      <p:sp>
        <p:nvSpPr>
          <p:cNvPr id="3" name="Content Placeholder 2">
            <a:extLst>
              <a:ext uri="{FF2B5EF4-FFF2-40B4-BE49-F238E27FC236}">
                <a16:creationId xmlns:a16="http://schemas.microsoft.com/office/drawing/2014/main" id="{8D7C3A4C-F8CA-51AF-6C79-E8211BE61872}"/>
              </a:ext>
            </a:extLst>
          </p:cNvPr>
          <p:cNvSpPr>
            <a:spLocks noGrp="1"/>
          </p:cNvSpPr>
          <p:nvPr>
            <p:ph idx="1"/>
          </p:nvPr>
        </p:nvSpPr>
        <p:spPr>
          <a:xfrm>
            <a:off x="900233" y="1934831"/>
            <a:ext cx="10391534" cy="4324652"/>
          </a:xfrm>
        </p:spPr>
        <p:txBody>
          <a:bodyPr>
            <a:normAutofit/>
          </a:bodyPr>
          <a:lstStyle/>
          <a:p>
            <a:pPr marL="0" marR="0" algn="just">
              <a:lnSpc>
                <a:spcPct val="107000"/>
              </a:lnSpc>
              <a:spcBef>
                <a:spcPts val="0"/>
              </a:spcBef>
              <a:spcAft>
                <a:spcPts val="800"/>
              </a:spcAft>
            </a:pPr>
            <a:r>
              <a:rPr lang="en-IN" sz="1800" b="1" kern="100" cap="none" dirty="0">
                <a:effectLst/>
                <a:latin typeface="Times New Roman" panose="02020603050405020304" pitchFamily="18" charset="0"/>
                <a:ea typeface="Calibri" panose="020F0502020204030204" pitchFamily="34" charset="0"/>
                <a:cs typeface="Times New Roman" panose="02020603050405020304" pitchFamily="18" charset="0"/>
              </a:rPr>
              <a:t>Enhanced User Interfaces</a:t>
            </a:r>
            <a:r>
              <a:rPr lang="en-IN" sz="1800" kern="100" cap="none" dirty="0">
                <a:effectLst/>
                <a:latin typeface="Times New Roman" panose="02020603050405020304" pitchFamily="18" charset="0"/>
                <a:ea typeface="Calibri" panose="020F0502020204030204" pitchFamily="34" charset="0"/>
                <a:cs typeface="Times New Roman" panose="02020603050405020304" pitchFamily="18" charset="0"/>
              </a:rPr>
              <a:t>: These technologies can contribute to the development of intuitive user interfaces. For instance, in gaming or virtual reality applications, motion detection enables more immersive and interactive experiences, improving user satisfaction and engagement.</a:t>
            </a:r>
          </a:p>
          <a:p>
            <a:pPr marL="0" marR="0" indent="0" algn="just">
              <a:lnSpc>
                <a:spcPct val="107000"/>
              </a:lnSpc>
              <a:spcBef>
                <a:spcPts val="0"/>
              </a:spcBef>
              <a:spcAft>
                <a:spcPts val="800"/>
              </a:spcAft>
              <a:buNone/>
            </a:pPr>
            <a:endParaRPr lang="en-IN" sz="1800" kern="100" cap="none"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IN" sz="1800" b="1" kern="100" cap="none" dirty="0">
                <a:effectLst/>
                <a:latin typeface="Times New Roman" panose="02020603050405020304" pitchFamily="18" charset="0"/>
                <a:ea typeface="Calibri" panose="020F0502020204030204" pitchFamily="34" charset="0"/>
                <a:cs typeface="Times New Roman" panose="02020603050405020304" pitchFamily="18" charset="0"/>
              </a:rPr>
              <a:t>Medical and Healthcare Applications</a:t>
            </a:r>
            <a:r>
              <a:rPr lang="en-IN" sz="1800" kern="100" cap="none" dirty="0">
                <a:effectLst/>
                <a:latin typeface="Times New Roman" panose="02020603050405020304" pitchFamily="18" charset="0"/>
                <a:ea typeface="Calibri" panose="020F0502020204030204" pitchFamily="34" charset="0"/>
                <a:cs typeface="Times New Roman" panose="02020603050405020304" pitchFamily="18" charset="0"/>
              </a:rPr>
              <a:t>: Motion detection and multiple faces identification can be used in medical and healthcare settings. These technologies can assist in patient monitoring, fall detection for the elderly, and tracking movements for rehabilitation purposes, leading to improved healthcare outcomes.</a:t>
            </a:r>
          </a:p>
          <a:p>
            <a:pPr algn="just"/>
            <a:r>
              <a:rPr lang="en-IN" sz="1800" b="1" cap="none" dirty="0">
                <a:effectLst/>
                <a:latin typeface="Times New Roman" panose="02020603050405020304" pitchFamily="18" charset="0"/>
                <a:ea typeface="Calibri" panose="020F0502020204030204" pitchFamily="34" charset="0"/>
                <a:cs typeface="Times New Roman" panose="02020603050405020304" pitchFamily="18" charset="0"/>
              </a:rPr>
              <a:t>Advancements in Artificial </a:t>
            </a:r>
            <a:r>
              <a:rPr lang="en-IN" sz="1800" b="1" cap="none" dirty="0">
                <a:latin typeface="Times New Roman" panose="02020603050405020304" pitchFamily="18" charset="0"/>
                <a:ea typeface="Calibri" panose="020F0502020204030204" pitchFamily="34" charset="0"/>
                <a:cs typeface="Times New Roman" panose="02020603050405020304" pitchFamily="18" charset="0"/>
              </a:rPr>
              <a:t>I</a:t>
            </a:r>
            <a:r>
              <a:rPr lang="en-IN" sz="1800" b="1" cap="none" dirty="0">
                <a:effectLst/>
                <a:latin typeface="Times New Roman" panose="02020603050405020304" pitchFamily="18" charset="0"/>
                <a:ea typeface="Calibri" panose="020F0502020204030204" pitchFamily="34" charset="0"/>
                <a:cs typeface="Times New Roman" panose="02020603050405020304" pitchFamily="18" charset="0"/>
              </a:rPr>
              <a:t>ntelligence</a:t>
            </a:r>
            <a:r>
              <a:rPr lang="en-IN" sz="1800" cap="none" dirty="0">
                <a:effectLst/>
                <a:latin typeface="Times New Roman" panose="02020603050405020304" pitchFamily="18" charset="0"/>
                <a:ea typeface="Calibri" panose="020F0502020204030204" pitchFamily="34" charset="0"/>
                <a:cs typeface="Times New Roman" panose="02020603050405020304" pitchFamily="18" charset="0"/>
              </a:rPr>
              <a:t>: The development and deployment of motion detection and multiple faces identification technologies drive advancements in Artificial Intelligence and Computer </a:t>
            </a:r>
            <a:r>
              <a:rPr lang="en-IN" sz="1800" cap="none" dirty="0">
                <a:latin typeface="Times New Roman" panose="02020603050405020304" pitchFamily="18" charset="0"/>
                <a:ea typeface="Calibri" panose="020F0502020204030204" pitchFamily="34" charset="0"/>
                <a:cs typeface="Times New Roman" panose="02020603050405020304" pitchFamily="18" charset="0"/>
              </a:rPr>
              <a:t>V</a:t>
            </a:r>
            <a:r>
              <a:rPr lang="en-IN" sz="1800" cap="none" dirty="0">
                <a:effectLst/>
                <a:latin typeface="Times New Roman" panose="02020603050405020304" pitchFamily="18" charset="0"/>
                <a:ea typeface="Calibri" panose="020F0502020204030204" pitchFamily="34" charset="0"/>
                <a:cs typeface="Times New Roman" panose="02020603050405020304" pitchFamily="18" charset="0"/>
              </a:rPr>
              <a:t>ision. These advancements have a broader impact on various industries, pushing the boundaries of what is possible and opening up new opportunities for innovation</a:t>
            </a:r>
            <a:endParaRPr lang="en-IN" cap="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26929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23E08-B936-16C5-EC70-4346CBD09238}"/>
              </a:ext>
            </a:extLst>
          </p:cNvPr>
          <p:cNvSpPr>
            <a:spLocks noGrp="1"/>
          </p:cNvSpPr>
          <p:nvPr>
            <p:ph type="title"/>
          </p:nvPr>
        </p:nvSpPr>
        <p:spPr/>
        <p:txBody>
          <a:bodyPr/>
          <a:lstStyle/>
          <a:p>
            <a:r>
              <a:rPr lang="en-US" dirty="0"/>
              <a:t>Conclusion</a:t>
            </a:r>
            <a:endParaRPr lang="en-IN" dirty="0"/>
          </a:p>
        </p:txBody>
      </p:sp>
      <p:sp>
        <p:nvSpPr>
          <p:cNvPr id="3" name="Content Placeholder 2">
            <a:extLst>
              <a:ext uri="{FF2B5EF4-FFF2-40B4-BE49-F238E27FC236}">
                <a16:creationId xmlns:a16="http://schemas.microsoft.com/office/drawing/2014/main" id="{32A0AF71-E07F-C7DC-33F7-5EEDEC507717}"/>
              </a:ext>
            </a:extLst>
          </p:cNvPr>
          <p:cNvSpPr>
            <a:spLocks noGrp="1"/>
          </p:cNvSpPr>
          <p:nvPr>
            <p:ph idx="1"/>
          </p:nvPr>
        </p:nvSpPr>
        <p:spPr/>
        <p:txBody>
          <a:bodyPr>
            <a:normAutofit fontScale="85000" lnSpcReduction="20000"/>
          </a:bodyPr>
          <a:lstStyle/>
          <a:p>
            <a:pPr marL="425196" indent="-342900" algn="just"/>
            <a:r>
              <a:rPr lang="en-US" sz="2400" cap="none" dirty="0"/>
              <a:t>According to the results, we conclude that the Gaussian-Blur, </a:t>
            </a:r>
            <a:r>
              <a:rPr lang="en-US" sz="2400" cap="none" dirty="0" err="1"/>
              <a:t>Haar</a:t>
            </a:r>
            <a:r>
              <a:rPr lang="en-US" sz="2400" cap="none" dirty="0"/>
              <a:t>-Cascade Classifier and Face Recognition model helps to build the entire project effectively.</a:t>
            </a:r>
          </a:p>
          <a:p>
            <a:pPr marL="425196" indent="-342900" algn="just"/>
            <a:r>
              <a:rPr lang="en-US" sz="2400" cap="none" dirty="0"/>
              <a:t>The model detects and recognizes multiple faces simultaneously by using the Webcam of the computer. This project successfully shows how the model helps to capture the multiple faces, their detection and verification using the </a:t>
            </a:r>
            <a:r>
              <a:rPr lang="en-US" sz="2400" cap="none" dirty="0" err="1"/>
              <a:t>Haar</a:t>
            </a:r>
            <a:r>
              <a:rPr lang="en-US" sz="2400" cap="none" dirty="0"/>
              <a:t>-Cascade features and Face Recognitions Module. All the detection and recognition are done by the system with much fewer human interfaces, which makes this system automated and can give more advanced security.</a:t>
            </a:r>
          </a:p>
          <a:p>
            <a:pPr marL="425196" indent="-342900" algn="just"/>
            <a:r>
              <a:rPr lang="en-US" sz="2400" cap="none" dirty="0"/>
              <a:t>Even when detecting multiple faces, the model also detects the motion of the objects and alerts the system about the movements captured by the Web Camera which will be much more helpful for providing advanced security to an organization or to a home.</a:t>
            </a:r>
          </a:p>
          <a:p>
            <a:pPr marL="425196" indent="-342900" algn="just"/>
            <a:endParaRPr lang="en-US" sz="2400" cap="none" dirty="0"/>
          </a:p>
          <a:p>
            <a:pPr marL="425196" indent="-342900" algn="just"/>
            <a:endParaRPr lang="en-IN" cap="none" dirty="0"/>
          </a:p>
        </p:txBody>
      </p:sp>
    </p:spTree>
    <p:extLst>
      <p:ext uri="{BB962C8B-B14F-4D97-AF65-F5344CB8AC3E}">
        <p14:creationId xmlns:p14="http://schemas.microsoft.com/office/powerpoint/2010/main" val="12802312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D4ACF-74B1-8950-E157-A61740A2D69E}"/>
              </a:ext>
            </a:extLst>
          </p:cNvPr>
          <p:cNvSpPr>
            <a:spLocks noGrp="1"/>
          </p:cNvSpPr>
          <p:nvPr>
            <p:ph type="title"/>
          </p:nvPr>
        </p:nvSpPr>
        <p:spPr/>
        <p:txBody>
          <a:bodyPr/>
          <a:lstStyle/>
          <a:p>
            <a:r>
              <a:rPr lang="en-US" dirty="0"/>
              <a:t>Future Scope</a:t>
            </a:r>
            <a:endParaRPr lang="en-IN" dirty="0"/>
          </a:p>
        </p:txBody>
      </p:sp>
      <p:sp>
        <p:nvSpPr>
          <p:cNvPr id="3" name="Content Placeholder 2">
            <a:extLst>
              <a:ext uri="{FF2B5EF4-FFF2-40B4-BE49-F238E27FC236}">
                <a16:creationId xmlns:a16="http://schemas.microsoft.com/office/drawing/2014/main" id="{452F1BB9-2781-F5A5-5393-00BD36BF79E9}"/>
              </a:ext>
            </a:extLst>
          </p:cNvPr>
          <p:cNvSpPr>
            <a:spLocks noGrp="1"/>
          </p:cNvSpPr>
          <p:nvPr>
            <p:ph idx="1"/>
          </p:nvPr>
        </p:nvSpPr>
        <p:spPr/>
        <p:txBody>
          <a:bodyPr>
            <a:normAutofit fontScale="92500" lnSpcReduction="20000"/>
          </a:bodyPr>
          <a:lstStyle/>
          <a:p>
            <a:pPr algn="just"/>
            <a:r>
              <a:rPr lang="en-US" cap="none" dirty="0"/>
              <a:t>This model can be used in “Mental Hospital” for keeping track of mentally-ill patients, and keeping their facial data in the database to track them even into a crowded area using the security or web camera. </a:t>
            </a:r>
          </a:p>
          <a:p>
            <a:pPr algn="just"/>
            <a:r>
              <a:rPr lang="en-US" cap="none" dirty="0"/>
              <a:t>It also helps in keeping the facial data of the people which helps an organizations to avoid cases of frauds. </a:t>
            </a:r>
          </a:p>
          <a:p>
            <a:pPr algn="just"/>
            <a:r>
              <a:rPr lang="en-US" cap="none" dirty="0"/>
              <a:t>This model can also be used in the Airline Industry for keeping track of bags, people and boarding people. By using the recognition model, we can recognize the people at the check-in, which will help speed up the check-in process while ensuring security protocols and measures are followed, and also make the duties easier for the security personnel and airline staff.</a:t>
            </a:r>
          </a:p>
          <a:p>
            <a:pPr algn="just"/>
            <a:r>
              <a:rPr lang="en-US" cap="none" dirty="0"/>
              <a:t>We can use more advanced camera for getting more accurate results.</a:t>
            </a:r>
            <a:endParaRPr lang="en-IN" cap="none" dirty="0"/>
          </a:p>
        </p:txBody>
      </p:sp>
    </p:spTree>
    <p:extLst>
      <p:ext uri="{BB962C8B-B14F-4D97-AF65-F5344CB8AC3E}">
        <p14:creationId xmlns:p14="http://schemas.microsoft.com/office/powerpoint/2010/main" val="1871316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C2EB3-022F-6075-1126-6337FFEE26DF}"/>
              </a:ext>
            </a:extLst>
          </p:cNvPr>
          <p:cNvSpPr>
            <a:spLocks noGrp="1"/>
          </p:cNvSpPr>
          <p:nvPr>
            <p:ph type="title"/>
          </p:nvPr>
        </p:nvSpPr>
        <p:spPr/>
        <p:txBody>
          <a:bodyPr/>
          <a:lstStyle/>
          <a:p>
            <a:r>
              <a:rPr lang="en-US" dirty="0"/>
              <a:t>references</a:t>
            </a:r>
            <a:endParaRPr lang="en-IN" dirty="0"/>
          </a:p>
        </p:txBody>
      </p:sp>
      <p:sp>
        <p:nvSpPr>
          <p:cNvPr id="3" name="Content Placeholder 2">
            <a:extLst>
              <a:ext uri="{FF2B5EF4-FFF2-40B4-BE49-F238E27FC236}">
                <a16:creationId xmlns:a16="http://schemas.microsoft.com/office/drawing/2014/main" id="{3D826FC8-6241-6D11-1330-98881FE6F87A}"/>
              </a:ext>
            </a:extLst>
          </p:cNvPr>
          <p:cNvSpPr>
            <a:spLocks noGrp="1"/>
          </p:cNvSpPr>
          <p:nvPr>
            <p:ph idx="1"/>
          </p:nvPr>
        </p:nvSpPr>
        <p:spPr>
          <a:xfrm>
            <a:off x="913775" y="1646238"/>
            <a:ext cx="10507912" cy="4904191"/>
          </a:xfrm>
        </p:spPr>
        <p:txBody>
          <a:bodyPr>
            <a:normAutofit fontScale="77500" lnSpcReduction="20000"/>
          </a:bodyPr>
          <a:lstStyle/>
          <a:p>
            <a:r>
              <a:rPr lang="en-IN" cap="none" dirty="0">
                <a:latin typeface="Times New Roman" panose="02020603050405020304" pitchFamily="18" charset="0"/>
                <a:cs typeface="Times New Roman" panose="02020603050405020304" pitchFamily="18" charset="0"/>
              </a:rPr>
              <a:t>[1] M. Khan, S. Chakraborty, R. </a:t>
            </a:r>
            <a:r>
              <a:rPr lang="en-IN" cap="none" dirty="0" err="1">
                <a:latin typeface="Times New Roman" panose="02020603050405020304" pitchFamily="18" charset="0"/>
                <a:cs typeface="Times New Roman" panose="02020603050405020304" pitchFamily="18" charset="0"/>
              </a:rPr>
              <a:t>Astya</a:t>
            </a:r>
            <a:r>
              <a:rPr lang="en-IN" cap="none" dirty="0">
                <a:latin typeface="Times New Roman" panose="02020603050405020304" pitchFamily="18" charset="0"/>
                <a:cs typeface="Times New Roman" panose="02020603050405020304" pitchFamily="18" charset="0"/>
              </a:rPr>
              <a:t> And S. </a:t>
            </a:r>
            <a:r>
              <a:rPr lang="en-IN" cap="none" dirty="0" err="1">
                <a:latin typeface="Times New Roman" panose="02020603050405020304" pitchFamily="18" charset="0"/>
                <a:cs typeface="Times New Roman" panose="02020603050405020304" pitchFamily="18" charset="0"/>
              </a:rPr>
              <a:t>Khepra</a:t>
            </a:r>
            <a:r>
              <a:rPr lang="en-IN" cap="none" dirty="0">
                <a:latin typeface="Times New Roman" panose="02020603050405020304" pitchFamily="18" charset="0"/>
                <a:cs typeface="Times New Roman" panose="02020603050405020304" pitchFamily="18" charset="0"/>
              </a:rPr>
              <a:t>, "Face Detection And Recognition Using </a:t>
            </a:r>
            <a:r>
              <a:rPr lang="en-IN" cap="none" dirty="0" err="1">
                <a:latin typeface="Times New Roman" panose="02020603050405020304" pitchFamily="18" charset="0"/>
                <a:cs typeface="Times New Roman" panose="02020603050405020304" pitchFamily="18" charset="0"/>
              </a:rPr>
              <a:t>Opencv</a:t>
            </a:r>
            <a:r>
              <a:rPr lang="en-IN" cap="none" dirty="0">
                <a:latin typeface="Times New Roman" panose="02020603050405020304" pitchFamily="18" charset="0"/>
                <a:cs typeface="Times New Roman" panose="02020603050405020304" pitchFamily="18" charset="0"/>
              </a:rPr>
              <a:t>," 2019 International Conference On Computing, Communication, And Intelligent Systems (ICCCIS), Greater Noida, India, 2019, Pp. 116-119, Doi: 10.1109/Icccis48478.2019.8974493.</a:t>
            </a:r>
          </a:p>
          <a:p>
            <a:r>
              <a:rPr lang="en-IN" cap="none" dirty="0">
                <a:latin typeface="Times New Roman" panose="02020603050405020304" pitchFamily="18" charset="0"/>
                <a:cs typeface="Times New Roman" panose="02020603050405020304" pitchFamily="18" charset="0"/>
              </a:rPr>
              <a:t>[2] Shubham Mishra, Mrs. Versha Verma, </a:t>
            </a:r>
            <a:r>
              <a:rPr lang="en-IN" cap="none" dirty="0" err="1">
                <a:latin typeface="Times New Roman" panose="02020603050405020304" pitchFamily="18" charset="0"/>
                <a:cs typeface="Times New Roman" panose="02020603050405020304" pitchFamily="18" charset="0"/>
              </a:rPr>
              <a:t>Dr.</a:t>
            </a:r>
            <a:r>
              <a:rPr lang="en-IN" cap="none" dirty="0">
                <a:latin typeface="Times New Roman" panose="02020603050405020304" pitchFamily="18" charset="0"/>
                <a:cs typeface="Times New Roman" panose="02020603050405020304" pitchFamily="18" charset="0"/>
              </a:rPr>
              <a:t> Nikhat Akhtar, </a:t>
            </a:r>
            <a:r>
              <a:rPr lang="en-IN" cap="none" dirty="0" err="1">
                <a:latin typeface="Times New Roman" panose="02020603050405020304" pitchFamily="18" charset="0"/>
                <a:cs typeface="Times New Roman" panose="02020603050405020304" pitchFamily="18" charset="0"/>
              </a:rPr>
              <a:t>Shivam</a:t>
            </a:r>
            <a:r>
              <a:rPr lang="en-IN" cap="none" dirty="0">
                <a:latin typeface="Times New Roman" panose="02020603050405020304" pitchFamily="18" charset="0"/>
                <a:cs typeface="Times New Roman" panose="02020603050405020304" pitchFamily="18" charset="0"/>
              </a:rPr>
              <a:t> Chaturvedi, </a:t>
            </a:r>
            <a:r>
              <a:rPr lang="en-IN" cap="none" dirty="0" err="1">
                <a:latin typeface="Times New Roman" panose="02020603050405020304" pitchFamily="18" charset="0"/>
                <a:cs typeface="Times New Roman" panose="02020603050405020304" pitchFamily="18" charset="0"/>
              </a:rPr>
              <a:t>Dr.</a:t>
            </a:r>
            <a:r>
              <a:rPr lang="en-IN" cap="none" dirty="0">
                <a:latin typeface="Times New Roman" panose="02020603050405020304" pitchFamily="18" charset="0"/>
                <a:cs typeface="Times New Roman" panose="02020603050405020304" pitchFamily="18" charset="0"/>
              </a:rPr>
              <a:t> Yusuf </a:t>
            </a:r>
            <a:r>
              <a:rPr lang="en-IN" cap="none" dirty="0" err="1">
                <a:latin typeface="Times New Roman" panose="02020603050405020304" pitchFamily="18" charset="0"/>
                <a:cs typeface="Times New Roman" panose="02020603050405020304" pitchFamily="18" charset="0"/>
              </a:rPr>
              <a:t>Perwej</a:t>
            </a:r>
            <a:r>
              <a:rPr lang="en-IN" cap="none" dirty="0">
                <a:latin typeface="Times New Roman" panose="02020603050405020304" pitchFamily="18" charset="0"/>
                <a:cs typeface="Times New Roman" panose="02020603050405020304" pitchFamily="18" charset="0"/>
              </a:rPr>
              <a:t>, " An Intelligent Motion Detection Using </a:t>
            </a:r>
            <a:r>
              <a:rPr lang="en-IN" cap="none" dirty="0" err="1">
                <a:latin typeface="Times New Roman" panose="02020603050405020304" pitchFamily="18" charset="0"/>
                <a:cs typeface="Times New Roman" panose="02020603050405020304" pitchFamily="18" charset="0"/>
              </a:rPr>
              <a:t>Opencv</a:t>
            </a:r>
            <a:r>
              <a:rPr lang="en-IN" cap="none" dirty="0">
                <a:latin typeface="Times New Roman" panose="02020603050405020304" pitchFamily="18" charset="0"/>
                <a:cs typeface="Times New Roman" panose="02020603050405020304" pitchFamily="18" charset="0"/>
              </a:rPr>
              <a:t>, International Journal Of Scientific Research In Science, Engineering And Technology (IJSRSET), Print ISSN : 2395-1990, Online ISSN : 2394-4099, Volume 9, Issue 2, Pp.51-63, March-april-2022.</a:t>
            </a:r>
          </a:p>
          <a:p>
            <a:r>
              <a:rPr lang="en-IN" cap="none" dirty="0">
                <a:latin typeface="Times New Roman" panose="02020603050405020304" pitchFamily="18" charset="0"/>
                <a:cs typeface="Times New Roman" panose="02020603050405020304" pitchFamily="18" charset="0"/>
              </a:rPr>
              <a:t>[3] N. Pooja, B. S. Bhaskar, J. Aman, And C. Sarika, “Motion Detection Of Webcam Using Frame Differencing Method,” Research Journal Of Engineering And Technology, Vol. 12, No. 2, Pp. 32–38, 2021. </a:t>
            </a:r>
          </a:p>
          <a:p>
            <a:r>
              <a:rPr lang="en-IN" cap="none" dirty="0">
                <a:latin typeface="Times New Roman" panose="02020603050405020304" pitchFamily="18" charset="0"/>
                <a:cs typeface="Times New Roman" panose="02020603050405020304" pitchFamily="18" charset="0"/>
              </a:rPr>
              <a:t>[4] Ankita Rameshwar Mahajan And Vinod Agrawal, "Movement Detection Using </a:t>
            </a:r>
            <a:r>
              <a:rPr lang="en-IN" cap="none" dirty="0" err="1">
                <a:latin typeface="Times New Roman" panose="02020603050405020304" pitchFamily="18" charset="0"/>
                <a:cs typeface="Times New Roman" panose="02020603050405020304" pitchFamily="18" charset="0"/>
              </a:rPr>
              <a:t>Opencv</a:t>
            </a:r>
            <a:r>
              <a:rPr lang="en-IN" cap="none" dirty="0">
                <a:latin typeface="Times New Roman" panose="02020603050405020304" pitchFamily="18" charset="0"/>
                <a:cs typeface="Times New Roman" panose="02020603050405020304" pitchFamily="18" charset="0"/>
              </a:rPr>
              <a:t>", International Research Journal Of Modernization In Engineering Technology And Science, Vol. 04, No. 05, 2022.</a:t>
            </a:r>
          </a:p>
          <a:p>
            <a:r>
              <a:rPr lang="en-IN" cap="none" dirty="0">
                <a:latin typeface="Times New Roman" panose="02020603050405020304" pitchFamily="18" charset="0"/>
                <a:cs typeface="Times New Roman" panose="02020603050405020304" pitchFamily="18" charset="0"/>
              </a:rPr>
              <a:t>[5] C. Y. Yong, R. Sudirman And K. M. Chew, "Motion Detection And Analysis With Four Different Detectors," 2011 Third International Conference On Computational Intelligence, Modelling &amp; Simulation, Langkawi, Malaysia, 2011, Pp. 46-50, Doi: 10.1109/Cimsim.2011.18.</a:t>
            </a:r>
          </a:p>
          <a:p>
            <a:r>
              <a:rPr lang="en-IN" cap="none" dirty="0">
                <a:latin typeface="Times New Roman" panose="02020603050405020304" pitchFamily="18" charset="0"/>
                <a:cs typeface="Times New Roman" panose="02020603050405020304" pitchFamily="18" charset="0"/>
              </a:rPr>
              <a:t>[6] Gaussian-blur: https://www.tutorialspoint.com/opencv/opencv_gaussian_blur.htm</a:t>
            </a:r>
          </a:p>
          <a:p>
            <a:r>
              <a:rPr lang="en-IN" cap="none" dirty="0">
                <a:latin typeface="Times New Roman" panose="02020603050405020304" pitchFamily="18" charset="0"/>
                <a:cs typeface="Times New Roman" panose="02020603050405020304" pitchFamily="18" charset="0"/>
              </a:rPr>
              <a:t>[7] </a:t>
            </a:r>
            <a:r>
              <a:rPr lang="en-IN" cap="none" dirty="0" err="1">
                <a:latin typeface="Times New Roman" panose="02020603050405020304" pitchFamily="18" charset="0"/>
                <a:cs typeface="Times New Roman" panose="02020603050405020304" pitchFamily="18" charset="0"/>
              </a:rPr>
              <a:t>Opencv</a:t>
            </a:r>
            <a:r>
              <a:rPr lang="en-IN" cap="none" dirty="0">
                <a:latin typeface="Times New Roman" panose="02020603050405020304" pitchFamily="18" charset="0"/>
                <a:cs typeface="Times New Roman" panose="02020603050405020304" pitchFamily="18" charset="0"/>
              </a:rPr>
              <a:t> </a:t>
            </a:r>
            <a:r>
              <a:rPr lang="en-IN" cap="none" dirty="0" err="1">
                <a:latin typeface="Times New Roman" panose="02020603050405020304" pitchFamily="18" charset="0"/>
                <a:cs typeface="Times New Roman" panose="02020603050405020304" pitchFamily="18" charset="0"/>
              </a:rPr>
              <a:t>Haar</a:t>
            </a:r>
            <a:r>
              <a:rPr lang="en-IN" cap="none" dirty="0">
                <a:latin typeface="Times New Roman" panose="02020603050405020304" pitchFamily="18" charset="0"/>
                <a:cs typeface="Times New Roman" panose="02020603050405020304" pitchFamily="18" charset="0"/>
              </a:rPr>
              <a:t>-cascade Classifier: https://docs.opencv.org/3.4/d2/d99/tutorial_js_face_detection.html</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2308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A0B1B-5D74-0E42-A159-91D086DDCD2A}"/>
              </a:ext>
            </a:extLst>
          </p:cNvPr>
          <p:cNvSpPr>
            <a:spLocks noGrp="1"/>
          </p:cNvSpPr>
          <p:nvPr>
            <p:ph type="title"/>
          </p:nvPr>
        </p:nvSpPr>
        <p:spPr>
          <a:xfrm>
            <a:off x="1432560" y="2782486"/>
            <a:ext cx="8610600" cy="1293028"/>
          </a:xfrm>
        </p:spPr>
        <p:txBody>
          <a:bodyPr/>
          <a:lstStyle/>
          <a:p>
            <a:pPr algn="ctr"/>
            <a:r>
              <a:rPr lang="en-US" dirty="0"/>
              <a:t>Thank you..</a:t>
            </a:r>
            <a:endParaRPr lang="en-IN" dirty="0"/>
          </a:p>
        </p:txBody>
      </p:sp>
    </p:spTree>
    <p:extLst>
      <p:ext uri="{BB962C8B-B14F-4D97-AF65-F5344CB8AC3E}">
        <p14:creationId xmlns:p14="http://schemas.microsoft.com/office/powerpoint/2010/main" val="2888902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A724BEEF-FF32-45F6-A2C7-9BC00DC896CC}" vid="{1A16D80E-080C-43DF-92B0-1510C04219FD}"/>
    </a:ext>
  </a:extLst>
</a:theme>
</file>

<file path=docProps/app.xml><?xml version="1.0" encoding="utf-8"?>
<Properties xmlns="http://schemas.openxmlformats.org/officeDocument/2006/extended-properties" xmlns:vt="http://schemas.openxmlformats.org/officeDocument/2006/docPropsVTypes">
  <Template>Droplet</Template>
  <TotalTime>2215</TotalTime>
  <Words>3856</Words>
  <Application>Microsoft Office PowerPoint</Application>
  <PresentationFormat>Widescreen</PresentationFormat>
  <Paragraphs>434</Paragraphs>
  <Slides>26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Calibri</vt:lpstr>
      <vt:lpstr>Times New Roman</vt:lpstr>
      <vt:lpstr>Trebuchet MS</vt:lpstr>
      <vt:lpstr>Tw Cen MT</vt:lpstr>
      <vt:lpstr>Droplet</vt:lpstr>
      <vt:lpstr>PowerPoint Presentation</vt:lpstr>
      <vt:lpstr>Table of content</vt:lpstr>
      <vt:lpstr>Introduction</vt:lpstr>
      <vt:lpstr>motivation</vt:lpstr>
      <vt:lpstr>Literature survey</vt:lpstr>
      <vt:lpstr>Software and hardware requirement</vt:lpstr>
      <vt:lpstr>Proposed System</vt:lpstr>
      <vt:lpstr>Proposed System (cont.)</vt:lpstr>
      <vt:lpstr>Modules: Motion Detection</vt:lpstr>
      <vt:lpstr>Modules: Face Identification</vt:lpstr>
      <vt:lpstr>Result</vt:lpstr>
      <vt:lpstr>Result (Cont.)</vt:lpstr>
      <vt:lpstr>Result (cont.)</vt:lpstr>
      <vt:lpstr>Result (Cont.)</vt:lpstr>
      <vt:lpstr>Test cases: Database</vt:lpstr>
      <vt:lpstr>Test caese: webcam</vt:lpstr>
      <vt:lpstr>Test cases: model</vt:lpstr>
      <vt:lpstr>Test cases: model (cont.)</vt:lpstr>
      <vt:lpstr>Test cases: model (cont.)</vt:lpstr>
      <vt:lpstr>Test cases: model (cont.)</vt:lpstr>
      <vt:lpstr>Applications</vt:lpstr>
      <vt:lpstr>Applications (cont.)</vt:lpstr>
      <vt:lpstr>Conclusion</vt:lpstr>
      <vt:lpstr>Future Scope</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Varad Kalkhaire</dc:creator>
  <cp:lastModifiedBy>Varad Kalkhaire</cp:lastModifiedBy>
  <cp:revision>75</cp:revision>
  <dcterms:created xsi:type="dcterms:W3CDTF">2023-03-29T07:46:14Z</dcterms:created>
  <dcterms:modified xsi:type="dcterms:W3CDTF">2023-06-04T13:16:39Z</dcterms:modified>
</cp:coreProperties>
</file>